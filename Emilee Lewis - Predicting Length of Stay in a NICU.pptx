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10287000" cx="18288000"/>
  <p:notesSz cx="6858000" cy="9144000"/>
  <p:embeddedFontLst>
    <p:embeddedFont>
      <p:font typeface="Montserrat"/>
      <p:regular r:id="rId21"/>
      <p:bold r:id="rId22"/>
      <p:italic r:id="rId23"/>
      <p:boldItalic r:id="rId24"/>
    </p:embeddedFont>
    <p:embeddedFont>
      <p:font typeface="Poppins"/>
      <p:regular r:id="rId25"/>
      <p:bold r:id="rId26"/>
      <p:italic r:id="rId27"/>
      <p:boldItalic r:id="rId28"/>
    </p:embeddedFont>
    <p:embeddedFont>
      <p:font typeface="Poppins SemiBold"/>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3" roundtripDataSignature="AMtx7mgl03dUl9saPz8Uyi8TnH3zX1jJ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7925D3-91DE-4CE5-BB47-F3D8AFCD5638}">
  <a:tblStyle styleId="{C47925D3-91DE-4CE5-BB47-F3D8AFCD563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SemiBol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SemiBold-italic.fntdata"/><Relationship Id="rId30" Type="http://schemas.openxmlformats.org/officeDocument/2006/relationships/font" Target="fonts/PoppinsSemiBold-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PoppinsSemiBold-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0" name="Google Shape;100;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01" name="Google Shape;101;p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NICU is a specialized hospital unit that provides intensive care for premature or critically ill newborns.</a:t>
            </a:r>
            <a:endParaRPr/>
          </a:p>
          <a:p>
            <a:pPr indent="0" lvl="0" marL="0" rtl="0" algn="l">
              <a:spcBef>
                <a:spcPts val="0"/>
              </a:spcBef>
              <a:spcAft>
                <a:spcPts val="0"/>
              </a:spcAft>
              <a:buNone/>
            </a:pPr>
            <a:r>
              <a:rPr lang="en-US"/>
              <a:t>These infants often require advanced technology and constant monitoring.</a:t>
            </a:r>
            <a:endParaRPr/>
          </a:p>
          <a:p>
            <a:pPr indent="0" lvl="0" marL="0" rtl="0" algn="l">
              <a:spcBef>
                <a:spcPts val="0"/>
              </a:spcBef>
              <a:spcAft>
                <a:spcPts val="0"/>
              </a:spcAft>
              <a:buNone/>
            </a:pPr>
            <a:r>
              <a:rPr lang="en-US"/>
              <a:t>The level of care depends on how at-risk the infant is, which also affects staffing. For example, higher-risk infants may require a 1-to-1 ratio of one nurse per infant.</a:t>
            </a:r>
            <a:endParaRPr/>
          </a:p>
        </p:txBody>
      </p:sp>
      <p:sp>
        <p:nvSpPr>
          <p:cNvPr id="103" name="Google Shape;103;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4" name="Google Shape;104;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4" name="Google Shape;124;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25" name="Google Shape;125;p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research focuses on determining which modeling technique best predicts NICU length of stay.</a:t>
            </a:r>
            <a:endParaRPr/>
          </a:p>
          <a:p>
            <a:pPr indent="0" lvl="0" marL="0" rtl="0" algn="l">
              <a:spcBef>
                <a:spcPts val="0"/>
              </a:spcBef>
              <a:spcAft>
                <a:spcPts val="0"/>
              </a:spcAft>
              <a:buNone/>
            </a:pPr>
            <a:r>
              <a:rPr lang="en-US"/>
              <a:t>Length of stay is important because it reflects both the health of the infant and the level of care they require.</a:t>
            </a:r>
            <a:endParaRPr/>
          </a:p>
          <a:p>
            <a:pPr indent="0" lvl="0" marL="0" rtl="0" algn="l">
              <a:spcBef>
                <a:spcPts val="0"/>
              </a:spcBef>
              <a:spcAft>
                <a:spcPts val="0"/>
              </a:spcAft>
              <a:buNone/>
            </a:pPr>
            <a:r>
              <a:rPr lang="en-US"/>
              <a:t>It also has a major impact on hospital resources, including, as I mentioned earlier, staffing and bed availability.</a:t>
            </a:r>
            <a:endParaRPr/>
          </a:p>
          <a:p>
            <a:pPr indent="0" lvl="0" marL="0" rtl="0" algn="l">
              <a:spcBef>
                <a:spcPts val="0"/>
              </a:spcBef>
              <a:spcAft>
                <a:spcPts val="0"/>
              </a:spcAft>
              <a:buNone/>
            </a:pPr>
            <a:r>
              <a:rPr lang="en-US"/>
              <a:t>Overall, being able to predict length of stay can help hospitals plan more effectively and identify high-risk infants earlier.</a:t>
            </a:r>
            <a:endParaRPr/>
          </a:p>
        </p:txBody>
      </p:sp>
      <p:sp>
        <p:nvSpPr>
          <p:cNvPr id="127" name="Google Shape;127;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8" name="Google Shape;128;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9" name="Google Shape;149;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50" name="Google Shape;150;p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dataset I used consists of de-identified NICU patient data from Duke University Hospital.</a:t>
            </a:r>
            <a:endParaRPr/>
          </a:p>
          <a:p>
            <a:pPr indent="0" lvl="0" marL="0" rtl="0" algn="l">
              <a:spcBef>
                <a:spcPts val="0"/>
              </a:spcBef>
              <a:spcAft>
                <a:spcPts val="0"/>
              </a:spcAft>
              <a:buNone/>
            </a:pPr>
            <a:r>
              <a:rPr lang="en-US"/>
              <a:t>It was originally collected for a NICU simulation model, which Dr. Lada was actually involved in during her time at SAS.</a:t>
            </a:r>
            <a:endParaRPr/>
          </a:p>
          <a:p>
            <a:pPr indent="0" lvl="0" marL="0" rtl="0" algn="l">
              <a:spcBef>
                <a:spcPts val="0"/>
              </a:spcBef>
              <a:spcAft>
                <a:spcPts val="0"/>
              </a:spcAft>
              <a:buNone/>
            </a:pPr>
            <a:r>
              <a:rPr lang="en-US"/>
              <a:t>Each observation represents one infant, and the response variable in this case is length of stay, which is measured in days spent in the NICU.</a:t>
            </a:r>
            <a:endParaRPr/>
          </a:p>
          <a:p>
            <a:pPr indent="0" lvl="0" marL="0" rtl="0" algn="l">
              <a:spcBef>
                <a:spcPts val="0"/>
              </a:spcBef>
              <a:spcAft>
                <a:spcPts val="0"/>
              </a:spcAft>
              <a:buNone/>
            </a:pPr>
            <a:r>
              <a:rPr lang="en-US"/>
              <a:t>The dataset includes several predictors, including clinical variables like gestational age and birth weight, demographic information, and major neonatal complications such as IVH, ROP, NEC, and PDA.</a:t>
            </a:r>
            <a:endParaRPr/>
          </a:p>
          <a:p>
            <a:pPr indent="0" lvl="0" marL="0" rtl="0" algn="l">
              <a:spcBef>
                <a:spcPts val="0"/>
              </a:spcBef>
              <a:spcAft>
                <a:spcPts val="0"/>
              </a:spcAft>
              <a:buNone/>
            </a:pPr>
            <a:r>
              <a:rPr lang="en-US"/>
              <a:t>These include conditions like bleeding in the brain, abnormal blood vessel development in the eye, a serious intestinal disease, and a heart condition affecting blood flow.</a:t>
            </a:r>
            <a:endParaRPr/>
          </a:p>
        </p:txBody>
      </p:sp>
      <p:sp>
        <p:nvSpPr>
          <p:cNvPr id="152" name="Google Shape;152;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3" name="Google Shape;153;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2" name="Google Shape;172;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73" name="Google Shape;173;p5: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visualization I created shows the distribution of my response variable, length of stay.</a:t>
            </a:r>
            <a:endParaRPr/>
          </a:p>
          <a:p>
            <a:pPr indent="0" lvl="0" marL="0" rtl="0" algn="l">
              <a:spcBef>
                <a:spcPts val="0"/>
              </a:spcBef>
              <a:spcAft>
                <a:spcPts val="0"/>
              </a:spcAft>
              <a:buNone/>
            </a:pPr>
            <a:r>
              <a:rPr lang="en-US"/>
              <a:t>As you can see, it is strongly right-skewed, meaning most infants have relatively short stays, which is ultimately the goal.</a:t>
            </a:r>
            <a:endParaRPr/>
          </a:p>
          <a:p>
            <a:pPr indent="0" lvl="0" marL="0" rtl="0" algn="l">
              <a:spcBef>
                <a:spcPts val="0"/>
              </a:spcBef>
              <a:spcAft>
                <a:spcPts val="0"/>
              </a:spcAft>
              <a:buNone/>
            </a:pPr>
            <a:r>
              <a:rPr lang="en-US"/>
              <a:t>However, there are some infants with much longer stays, known as outliers, which create this skew.</a:t>
            </a:r>
            <a:endParaRPr/>
          </a:p>
          <a:p>
            <a:pPr indent="0" lvl="0" marL="0" rtl="0" algn="l">
              <a:spcBef>
                <a:spcPts val="0"/>
              </a:spcBef>
              <a:spcAft>
                <a:spcPts val="0"/>
              </a:spcAft>
              <a:buNone/>
            </a:pPr>
            <a:r>
              <a:rPr lang="en-US"/>
              <a:t>The median length of stay is around 9 days, which gives a better sense of a typical stay than the mean due to these extreme values.</a:t>
            </a:r>
            <a:endParaRPr/>
          </a:p>
        </p:txBody>
      </p:sp>
      <p:sp>
        <p:nvSpPr>
          <p:cNvPr id="175" name="Google Shape;175;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6" name="Google Shape;176;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4" name="Google Shape;184;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85" name="Google Shape;185;p6: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Because the distribution of length of stay was strongly right-skewed, I applied a log transformation to the data.</a:t>
            </a:r>
            <a:endParaRPr/>
          </a:p>
          <a:p>
            <a:pPr indent="0" lvl="0" marL="0" rtl="0" algn="l">
              <a:spcBef>
                <a:spcPts val="0"/>
              </a:spcBef>
              <a:spcAft>
                <a:spcPts val="0"/>
              </a:spcAft>
              <a:buNone/>
            </a:pPr>
            <a:r>
              <a:rPr lang="en-US"/>
              <a:t>This transformation helps reduce the impact of extreme values and makes the distribution more balanced.</a:t>
            </a:r>
            <a:endParaRPr/>
          </a:p>
          <a:p>
            <a:pPr indent="0" lvl="0" marL="0" rtl="0" algn="l">
              <a:spcBef>
                <a:spcPts val="0"/>
              </a:spcBef>
              <a:spcAft>
                <a:spcPts val="0"/>
              </a:spcAft>
              <a:buNone/>
            </a:pPr>
            <a:r>
              <a:rPr lang="en-US"/>
              <a:t>As you can see, the log-transformed data is much more symmetric and easier to work with.</a:t>
            </a:r>
            <a:endParaRPr/>
          </a:p>
          <a:p>
            <a:pPr indent="0" lvl="0" marL="0" rtl="0" algn="l">
              <a:spcBef>
                <a:spcPts val="0"/>
              </a:spcBef>
              <a:spcAft>
                <a:spcPts val="0"/>
              </a:spcAft>
              <a:buNone/>
            </a:pPr>
            <a:r>
              <a:rPr lang="en-US"/>
              <a:t>This is important because many modeling techniques perform better when the data is more normally distributed.</a:t>
            </a:r>
            <a:endParaRPr/>
          </a:p>
        </p:txBody>
      </p:sp>
      <p:sp>
        <p:nvSpPr>
          <p:cNvPr id="187" name="Google Shape;187;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8" name="Google Shape;188;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6" name="Google Shape;196;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97" name="Google Shape;197;p7: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of the strongest relationships I found was between gestational age and length of stay.</a:t>
            </a:r>
            <a:endParaRPr/>
          </a:p>
          <a:p>
            <a:pPr indent="0" lvl="0" marL="0" rtl="0" algn="l">
              <a:spcBef>
                <a:spcPts val="0"/>
              </a:spcBef>
              <a:spcAft>
                <a:spcPts val="0"/>
              </a:spcAft>
              <a:buNone/>
            </a:pPr>
            <a:r>
              <a:rPr lang="en-US"/>
              <a:t>As you can see, the average length of stay is highest at the earliest gestational ages, with a peak around 24 weeks.</a:t>
            </a:r>
            <a:endParaRPr/>
          </a:p>
          <a:p>
            <a:pPr indent="0" lvl="0" marL="0" rtl="0" algn="l">
              <a:spcBef>
                <a:spcPts val="0"/>
              </a:spcBef>
              <a:spcAft>
                <a:spcPts val="0"/>
              </a:spcAft>
              <a:buNone/>
            </a:pPr>
            <a:r>
              <a:rPr lang="en-US"/>
              <a:t>As gestational age increases, length of stay decreases steadily.</a:t>
            </a:r>
            <a:endParaRPr/>
          </a:p>
          <a:p>
            <a:pPr indent="0" lvl="0" marL="0" rtl="0" algn="l">
              <a:spcBef>
                <a:spcPts val="0"/>
              </a:spcBef>
              <a:spcAft>
                <a:spcPts val="0"/>
              </a:spcAft>
              <a:buNone/>
            </a:pPr>
            <a:r>
              <a:rPr lang="en-US"/>
              <a:t>This shows that infants born closer to full term tend to have shorter hospital stays.</a:t>
            </a:r>
            <a:endParaRPr/>
          </a:p>
          <a:p>
            <a:pPr indent="0" lvl="0" marL="0" rtl="0" algn="l">
              <a:spcBef>
                <a:spcPts val="0"/>
              </a:spcBef>
              <a:spcAft>
                <a:spcPts val="0"/>
              </a:spcAft>
              <a:buNone/>
            </a:pPr>
            <a:r>
              <a:rPr lang="en-US"/>
              <a:t>In contrast, more premature infants experience longer stays due to increased medical complexity and the need for more intensive care.</a:t>
            </a:r>
            <a:endParaRPr/>
          </a:p>
        </p:txBody>
      </p:sp>
      <p:sp>
        <p:nvSpPr>
          <p:cNvPr id="199" name="Google Shape;199;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0" name="Google Shape;200;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8" name="Google Shape;208;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09" name="Google Shape;209;p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exploring patterns in the data, I used a clustering method to group infants with similar characteristics.</a:t>
            </a:r>
            <a:endParaRPr/>
          </a:p>
          <a:p>
            <a:pPr indent="0" lvl="0" marL="0" rtl="0" algn="l">
              <a:spcBef>
                <a:spcPts val="0"/>
              </a:spcBef>
              <a:spcAft>
                <a:spcPts val="0"/>
              </a:spcAft>
              <a:buNone/>
            </a:pPr>
            <a:r>
              <a:rPr lang="en-US"/>
              <a:t>This approach groups patients based on similarities in things like gestational age, birth weight, and clinical conditions.</a:t>
            </a:r>
            <a:endParaRPr/>
          </a:p>
          <a:p>
            <a:pPr indent="0" lvl="0" marL="0" rtl="0" algn="l">
              <a:spcBef>
                <a:spcPts val="0"/>
              </a:spcBef>
              <a:spcAft>
                <a:spcPts val="0"/>
              </a:spcAft>
              <a:buNone/>
            </a:pPr>
            <a:r>
              <a:rPr lang="en-US"/>
              <a:t>I identified four main groups, ranging from extremely premature infants to those born closer to full term.</a:t>
            </a:r>
            <a:endParaRPr/>
          </a:p>
          <a:p>
            <a:pPr indent="0" lvl="0" marL="0" rtl="0" algn="l">
              <a:spcBef>
                <a:spcPts val="0"/>
              </a:spcBef>
              <a:spcAft>
                <a:spcPts val="0"/>
              </a:spcAft>
              <a:buNone/>
            </a:pPr>
            <a:r>
              <a:rPr lang="en-US"/>
              <a:t>Before clustering, the variables were standardized so that no single variable had more influence than others.</a:t>
            </a:r>
            <a:endParaRPr/>
          </a:p>
          <a:p>
            <a:pPr indent="0" lvl="0" marL="0" rtl="0" algn="l">
              <a:spcBef>
                <a:spcPts val="0"/>
              </a:spcBef>
              <a:spcAft>
                <a:spcPts val="0"/>
              </a:spcAft>
              <a:buNone/>
            </a:pPr>
            <a:r>
              <a:rPr lang="en-US"/>
              <a:t>I also used a method to determine the appropriate number of groups, which resulted in four clusters.</a:t>
            </a:r>
            <a:endParaRPr/>
          </a:p>
        </p:txBody>
      </p:sp>
      <p:sp>
        <p:nvSpPr>
          <p:cNvPr id="211" name="Google Shape;211;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2" name="Google Shape;212;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1" name="Google Shape;231;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32" name="Google Shape;232;p9: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results show clear differences between the four groups identified through clustering.</a:t>
            </a:r>
            <a:endParaRPr/>
          </a:p>
          <a:p>
            <a:pPr indent="0" lvl="0" marL="0" rtl="0" algn="l">
              <a:spcBef>
                <a:spcPts val="0"/>
              </a:spcBef>
              <a:spcAft>
                <a:spcPts val="0"/>
              </a:spcAft>
              <a:buNone/>
            </a:pPr>
            <a:r>
              <a:rPr lang="en-US"/>
              <a:t>Infants in the extremely and very premature groups have lower gestational ages and birth weights, along with higher complication rates. As a result, they also experience longer NICU stays.</a:t>
            </a:r>
            <a:endParaRPr/>
          </a:p>
          <a:p>
            <a:pPr indent="0" lvl="0" marL="0" rtl="0" algn="l">
              <a:spcBef>
                <a:spcPts val="0"/>
              </a:spcBef>
              <a:spcAft>
                <a:spcPts val="0"/>
              </a:spcAft>
              <a:buNone/>
            </a:pPr>
            <a:r>
              <a:rPr lang="en-US"/>
              <a:t>In contrast, infants born closer to full term tend to have fewer complications and much shorter stays.</a:t>
            </a:r>
            <a:endParaRPr/>
          </a:p>
          <a:p>
            <a:pPr indent="0" lvl="0" marL="0" rtl="0" algn="l">
              <a:spcBef>
                <a:spcPts val="0"/>
              </a:spcBef>
              <a:spcAft>
                <a:spcPts val="0"/>
              </a:spcAft>
              <a:buNone/>
            </a:pPr>
            <a:r>
              <a:rPr lang="en-US"/>
              <a:t>Overall, this highlights a strong relationship between prematurity and clinical outcomes. These patterns are consistent with what we observed earlier in the exploratory analysis.</a:t>
            </a:r>
            <a:endParaRPr/>
          </a:p>
        </p:txBody>
      </p:sp>
      <p:sp>
        <p:nvSpPr>
          <p:cNvPr id="234" name="Google Shape;234;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5" name="Google Shape;235;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3" name="Google Shape;243;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44" name="Google Shape;244;p1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identifying patterns in the data, I moved on to building predictive models.</a:t>
            </a:r>
            <a:endParaRPr/>
          </a:p>
          <a:p>
            <a:pPr indent="0" lvl="0" marL="0" rtl="0" algn="l">
              <a:spcBef>
                <a:spcPts val="0"/>
              </a:spcBef>
              <a:spcAft>
                <a:spcPts val="0"/>
              </a:spcAft>
              <a:buNone/>
            </a:pPr>
            <a:r>
              <a:rPr lang="en-US"/>
              <a:t>First, I split the data into training and testing sets. The training data is used to build the model, while the testing data is used to evaluate how well it performs on new, unseen data. This helps ensure that the model is not just memorizing the data, but can actually make accurate predictions.</a:t>
            </a:r>
            <a:endParaRPr/>
          </a:p>
          <a:p>
            <a:pPr indent="0" lvl="0" marL="0" rtl="0" algn="l">
              <a:spcBef>
                <a:spcPts val="0"/>
              </a:spcBef>
              <a:spcAft>
                <a:spcPts val="0"/>
              </a:spcAft>
              <a:buNone/>
            </a:pPr>
            <a:r>
              <a:rPr lang="en-US"/>
              <a:t>I then used two different statistical methods: a log-linear regression model and a random forest model. The log-linear regression is a simpler, more traditional model, while the random forest is more flexible and can capture more complex patterns.</a:t>
            </a:r>
            <a:endParaRPr/>
          </a:p>
        </p:txBody>
      </p:sp>
      <p:sp>
        <p:nvSpPr>
          <p:cNvPr id="246" name="Google Shape;246;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47" name="Google Shape;247;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8" name="Google Shape;268;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69" name="Google Shape;269;p1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evaluate model performance, I used root mean squared error, which measures how far predictions are from the actual values, in days. Lower values indicate better accuracy.</a:t>
            </a:r>
            <a:endParaRPr/>
          </a:p>
          <a:p>
            <a:pPr indent="0" lvl="0" marL="0" rtl="0" algn="l">
              <a:spcBef>
                <a:spcPts val="0"/>
              </a:spcBef>
              <a:spcAft>
                <a:spcPts val="0"/>
              </a:spcAft>
              <a:buNone/>
            </a:pPr>
            <a:r>
              <a:rPr lang="en-US"/>
              <a:t>For context, we saw that the median length of stay in this dataset is about 9 days.</a:t>
            </a:r>
            <a:endParaRPr/>
          </a:p>
          <a:p>
            <a:pPr indent="0" lvl="0" marL="0" rtl="0" algn="l">
              <a:spcBef>
                <a:spcPts val="0"/>
              </a:spcBef>
              <a:spcAft>
                <a:spcPts val="0"/>
              </a:spcAft>
              <a:buNone/>
            </a:pPr>
            <a:r>
              <a:rPr lang="en-US"/>
              <a:t>However, the models had errors around 30 days, which is quite high compared to a typical stay.</a:t>
            </a:r>
            <a:endParaRPr/>
          </a:p>
          <a:p>
            <a:pPr indent="0" lvl="0" marL="0" rtl="0" algn="l">
              <a:spcBef>
                <a:spcPts val="0"/>
              </a:spcBef>
              <a:spcAft>
                <a:spcPts val="0"/>
              </a:spcAft>
              <a:buNone/>
            </a:pPr>
            <a:r>
              <a:rPr lang="en-US"/>
              <a:t>This indicates that the models were not very accurate when using the full dataset.</a:t>
            </a:r>
            <a:endParaRPr/>
          </a:p>
        </p:txBody>
      </p:sp>
      <p:sp>
        <p:nvSpPr>
          <p:cNvPr id="271" name="Google Shape;271;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2" name="Google Shape;272;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0" name="Google Shape;280;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81" name="Google Shape;281;p1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infants with very long stays were heavily influencing the models and making predictions less accurate.</a:t>
            </a:r>
            <a:endParaRPr/>
          </a:p>
          <a:p>
            <a:pPr indent="0" lvl="0" marL="0" rtl="0" algn="l">
              <a:spcBef>
                <a:spcPts val="0"/>
              </a:spcBef>
              <a:spcAft>
                <a:spcPts val="0"/>
              </a:spcAft>
              <a:buNone/>
            </a:pPr>
            <a:r>
              <a:rPr lang="en-US"/>
              <a:t>To address this, I restricted the dataset to the 90th percentile, which corresponds to stays of 73 days or less.</a:t>
            </a:r>
            <a:endParaRPr/>
          </a:p>
          <a:p>
            <a:pPr indent="0" lvl="0" marL="0" rtl="0" algn="l">
              <a:spcBef>
                <a:spcPts val="0"/>
              </a:spcBef>
              <a:spcAft>
                <a:spcPts val="0"/>
              </a:spcAft>
              <a:buNone/>
            </a:pPr>
            <a:r>
              <a:rPr lang="en-US"/>
              <a:t>I then re-ran the models on this restricted dataset to see if performance improved.</a:t>
            </a:r>
            <a:endParaRPr/>
          </a:p>
        </p:txBody>
      </p:sp>
      <p:sp>
        <p:nvSpPr>
          <p:cNvPr id="283" name="Google Shape;283;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4" name="Google Shape;284;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2" name="Google Shape;292;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93" name="Google Shape;293;p1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restricting the dataset to remove extreme values, model performance improved significantly.</a:t>
            </a:r>
            <a:endParaRPr/>
          </a:p>
          <a:p>
            <a:pPr indent="0" lvl="0" marL="0" rtl="0" algn="l">
              <a:spcBef>
                <a:spcPts val="0"/>
              </a:spcBef>
              <a:spcAft>
                <a:spcPts val="0"/>
              </a:spcAft>
              <a:buNone/>
            </a:pPr>
            <a:r>
              <a:rPr lang="en-US"/>
              <a:t>Both models showed lower prediction error, but the random forest consistently performed better than the log-linear regression.</a:t>
            </a:r>
            <a:endParaRPr/>
          </a:p>
          <a:p>
            <a:pPr indent="0" lvl="0" marL="0" rtl="0" algn="l">
              <a:spcBef>
                <a:spcPts val="0"/>
              </a:spcBef>
              <a:spcAft>
                <a:spcPts val="0"/>
              </a:spcAft>
              <a:buNone/>
            </a:pPr>
            <a:r>
              <a:rPr lang="en-US"/>
              <a:t>The best result came from the random forest model on the restricted dataset, with an error of about 11 days. Which is a substantial improvement compared to the initial error of around 30 days.</a:t>
            </a:r>
            <a:endParaRPr/>
          </a:p>
        </p:txBody>
      </p:sp>
      <p:sp>
        <p:nvSpPr>
          <p:cNvPr id="295" name="Google Shape;295;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6" name="Google Shape;296;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4" name="Google Shape;304;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05" name="Google Shape;305;p1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Overall, the random forest model worked the best for predicting length of stay and it improved even more after removing the outliers.</a:t>
            </a:r>
            <a:endParaRPr/>
          </a:p>
          <a:p>
            <a:pPr indent="0" lvl="0" marL="0" rtl="0" algn="l">
              <a:spcBef>
                <a:spcPts val="0"/>
              </a:spcBef>
              <a:spcAft>
                <a:spcPts val="0"/>
              </a:spcAft>
              <a:buNone/>
            </a:pPr>
            <a:r>
              <a:rPr lang="en-US"/>
              <a:t>In general, the results support that more premature and higher-risk infants tend to stay in the NICU longer.</a:t>
            </a:r>
            <a:endParaRPr/>
          </a:p>
          <a:p>
            <a:pPr indent="0" lvl="0" marL="0" rtl="0" algn="l">
              <a:spcBef>
                <a:spcPts val="0"/>
              </a:spcBef>
              <a:spcAft>
                <a:spcPts val="0"/>
              </a:spcAft>
              <a:buNone/>
            </a:pPr>
            <a:r>
              <a:rPr lang="en-US"/>
              <a:t>This kind of analysis could help hospitals better understand what to expect and plan accordingly.</a:t>
            </a:r>
            <a:endParaRPr/>
          </a:p>
        </p:txBody>
      </p:sp>
      <p:sp>
        <p:nvSpPr>
          <p:cNvPr id="307" name="Google Shape;307;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8" name="Google Shape;308;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4"/>
          <p:cNvSpPr/>
          <p:nvPr>
            <p:ph idx="2" type="pic"/>
          </p:nvPr>
        </p:nvSpPr>
        <p:spPr>
          <a:xfrm>
            <a:off x="1792288" y="612775"/>
            <a:ext cx="5486400" cy="4114800"/>
          </a:xfrm>
          <a:prstGeom prst="rect">
            <a:avLst/>
          </a:prstGeom>
          <a:noFill/>
          <a:ln>
            <a:noFill/>
          </a:ln>
        </p:spPr>
      </p:sp>
      <p:sp>
        <p:nvSpPr>
          <p:cNvPr id="68" name="Google Shape;68;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nvSpPr>
        <p:spPr>
          <a:xfrm>
            <a:off x="2994577" y="2600583"/>
            <a:ext cx="12298846" cy="1444626"/>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None/>
            </a:pPr>
            <a:r>
              <a:rPr b="1" i="0" lang="en-US" sz="7999" u="none" cap="none" strike="noStrike">
                <a:solidFill>
                  <a:srgbClr val="171C20"/>
                </a:solidFill>
                <a:latin typeface="Poppins SemiBold"/>
                <a:ea typeface="Poppins SemiBold"/>
                <a:cs typeface="Poppins SemiBold"/>
                <a:sym typeface="Poppins SemiBold"/>
              </a:rPr>
              <a:t>PREDICTING LENGTH</a:t>
            </a:r>
            <a:endParaRPr/>
          </a:p>
        </p:txBody>
      </p:sp>
      <p:grpSp>
        <p:nvGrpSpPr>
          <p:cNvPr id="93" name="Google Shape;93;p1"/>
          <p:cNvGrpSpPr/>
          <p:nvPr/>
        </p:nvGrpSpPr>
        <p:grpSpPr>
          <a:xfrm>
            <a:off x="2994577" y="6618640"/>
            <a:ext cx="12298846" cy="839177"/>
            <a:chOff x="0" y="-66675"/>
            <a:chExt cx="9578537" cy="653564"/>
          </a:xfrm>
        </p:grpSpPr>
        <p:sp>
          <p:nvSpPr>
            <p:cNvPr id="94" name="Google Shape;94;p1"/>
            <p:cNvSpPr/>
            <p:nvPr/>
          </p:nvSpPr>
          <p:spPr>
            <a:xfrm>
              <a:off x="0" y="0"/>
              <a:ext cx="9578536" cy="586889"/>
            </a:xfrm>
            <a:custGeom>
              <a:rect b="b" l="l" r="r" t="t"/>
              <a:pathLst>
                <a:path extrusionOk="0" h="586889" w="9578536">
                  <a:moveTo>
                    <a:pt x="9375336" y="0"/>
                  </a:moveTo>
                  <a:cubicBezTo>
                    <a:pt x="9487560" y="0"/>
                    <a:pt x="9578536" y="131380"/>
                    <a:pt x="9578536" y="293445"/>
                  </a:cubicBezTo>
                  <a:cubicBezTo>
                    <a:pt x="9578536" y="455510"/>
                    <a:pt x="9487560" y="586889"/>
                    <a:pt x="9375336" y="586889"/>
                  </a:cubicBezTo>
                  <a:lnTo>
                    <a:pt x="203200" y="586889"/>
                  </a:lnTo>
                  <a:cubicBezTo>
                    <a:pt x="90976" y="586889"/>
                    <a:pt x="0" y="455510"/>
                    <a:pt x="0" y="293445"/>
                  </a:cubicBezTo>
                  <a:cubicBezTo>
                    <a:pt x="0" y="131380"/>
                    <a:pt x="90976" y="0"/>
                    <a:pt x="203200" y="0"/>
                  </a:cubicBezTo>
                  <a:lnTo>
                    <a:pt x="9375336" y="0"/>
                  </a:ln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1"/>
            <p:cNvSpPr txBox="1"/>
            <p:nvPr/>
          </p:nvSpPr>
          <p:spPr>
            <a:xfrm>
              <a:off x="0" y="-66675"/>
              <a:ext cx="9578537" cy="653564"/>
            </a:xfrm>
            <a:prstGeom prst="rect">
              <a:avLst/>
            </a:prstGeom>
            <a:noFill/>
            <a:ln>
              <a:noFill/>
            </a:ln>
          </p:spPr>
          <p:txBody>
            <a:bodyPr anchorCtr="0" anchor="ctr" bIns="50800" lIns="50800" spcFirstLastPara="1" rIns="50800" wrap="square" tIns="50800">
              <a:noAutofit/>
            </a:bodyPr>
            <a:lstStyle/>
            <a:p>
              <a:pPr indent="0" lvl="0" marL="0" marR="0" rtl="0" algn="ctr">
                <a:lnSpc>
                  <a:spcPct val="140011"/>
                </a:lnSpc>
                <a:spcBef>
                  <a:spcPts val="0"/>
                </a:spcBef>
                <a:spcAft>
                  <a:spcPts val="0"/>
                </a:spcAft>
                <a:buNone/>
              </a:pPr>
              <a:r>
                <a:rPr lang="en-US" sz="3399">
                  <a:solidFill>
                    <a:srgbClr val="171C20"/>
                  </a:solidFill>
                  <a:latin typeface="Montserrat"/>
                  <a:ea typeface="Montserrat"/>
                  <a:cs typeface="Montserrat"/>
                  <a:sym typeface="Montserrat"/>
                </a:rPr>
                <a:t>Using Machine Learning</a:t>
              </a:r>
              <a:endParaRPr/>
            </a:p>
          </p:txBody>
        </p:sp>
      </p:grpSp>
      <p:sp>
        <p:nvSpPr>
          <p:cNvPr id="96" name="Google Shape;96;p1"/>
          <p:cNvSpPr txBox="1"/>
          <p:nvPr/>
        </p:nvSpPr>
        <p:spPr>
          <a:xfrm>
            <a:off x="2994577" y="3816609"/>
            <a:ext cx="12298846" cy="1444626"/>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None/>
            </a:pPr>
            <a:r>
              <a:rPr b="1" lang="en-US" sz="7999">
                <a:solidFill>
                  <a:srgbClr val="171C20"/>
                </a:solidFill>
                <a:latin typeface="Poppins SemiBold"/>
                <a:ea typeface="Poppins SemiBold"/>
                <a:cs typeface="Poppins SemiBold"/>
                <a:sym typeface="Poppins SemiBold"/>
              </a:rPr>
              <a:t>OF STAY IN A NEONATAL</a:t>
            </a:r>
            <a:endParaRPr/>
          </a:p>
        </p:txBody>
      </p:sp>
      <p:sp>
        <p:nvSpPr>
          <p:cNvPr id="97" name="Google Shape;97;p1"/>
          <p:cNvSpPr txBox="1"/>
          <p:nvPr/>
        </p:nvSpPr>
        <p:spPr>
          <a:xfrm>
            <a:off x="2994577" y="5032636"/>
            <a:ext cx="12298846" cy="1444626"/>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None/>
            </a:pPr>
            <a:r>
              <a:rPr b="1" lang="en-US" sz="7999">
                <a:solidFill>
                  <a:srgbClr val="171C20"/>
                </a:solidFill>
                <a:latin typeface="Poppins SemiBold"/>
                <a:ea typeface="Poppins SemiBold"/>
                <a:cs typeface="Poppins SemiBold"/>
                <a:sym typeface="Poppins SemiBold"/>
              </a:rPr>
              <a:t>INTENSIVE CARE UNIT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grpSp>
        <p:nvGrpSpPr>
          <p:cNvPr id="106" name="Google Shape;106;p2"/>
          <p:cNvGrpSpPr/>
          <p:nvPr/>
        </p:nvGrpSpPr>
        <p:grpSpPr>
          <a:xfrm>
            <a:off x="-3923578" y="-1732254"/>
            <a:ext cx="7847157" cy="7847157"/>
            <a:chOff x="0" y="0"/>
            <a:chExt cx="812800" cy="812800"/>
          </a:xfrm>
        </p:grpSpPr>
        <p:sp>
          <p:nvSpPr>
            <p:cNvPr id="107" name="Google Shape;107;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9" name="Google Shape;109;p2"/>
          <p:cNvGrpSpPr/>
          <p:nvPr/>
        </p:nvGrpSpPr>
        <p:grpSpPr>
          <a:xfrm>
            <a:off x="6887289" y="9723335"/>
            <a:ext cx="300229" cy="300229"/>
            <a:chOff x="0" y="0"/>
            <a:chExt cx="812800" cy="812800"/>
          </a:xfrm>
        </p:grpSpPr>
        <p:sp>
          <p:nvSpPr>
            <p:cNvPr id="110" name="Google Shape;11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2" name="Google Shape;112;p2"/>
          <p:cNvGrpSpPr/>
          <p:nvPr/>
        </p:nvGrpSpPr>
        <p:grpSpPr>
          <a:xfrm>
            <a:off x="4356125" y="1146915"/>
            <a:ext cx="474357" cy="474357"/>
            <a:chOff x="0" y="0"/>
            <a:chExt cx="812800" cy="812800"/>
          </a:xfrm>
        </p:grpSpPr>
        <p:sp>
          <p:nvSpPr>
            <p:cNvPr id="113" name="Google Shape;11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5" name="Google Shape;115;p2"/>
          <p:cNvSpPr/>
          <p:nvPr/>
        </p:nvSpPr>
        <p:spPr>
          <a:xfrm>
            <a:off x="0" y="1942807"/>
            <a:ext cx="6620804" cy="8344203"/>
          </a:xfrm>
          <a:custGeom>
            <a:rect b="b" l="l" r="r" t="t"/>
            <a:pathLst>
              <a:path extrusionOk="0" h="83230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935"/>
                </a:cubicBezTo>
                <a:lnTo>
                  <a:pt x="660400" y="832302"/>
                </a:lnTo>
                <a:lnTo>
                  <a:pt x="0" y="832302"/>
                </a:lnTo>
                <a:lnTo>
                  <a:pt x="0" y="329309"/>
                </a:lnTo>
                <a:cubicBezTo>
                  <a:pt x="1782" y="185660"/>
                  <a:pt x="93019" y="64045"/>
                  <a:pt x="220252" y="19070"/>
                </a:cubicBezTo>
                <a:close/>
              </a:path>
            </a:pathLst>
          </a:custGeom>
          <a:blipFill rotWithShape="1">
            <a:blip r:embed="rId3">
              <a:alphaModFix/>
            </a:blip>
            <a:stretch>
              <a:fillRect b="-8889" l="0" r="0" t="-106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2"/>
          <p:cNvSpPr txBox="1"/>
          <p:nvPr/>
        </p:nvSpPr>
        <p:spPr>
          <a:xfrm>
            <a:off x="7187518" y="2410156"/>
            <a:ext cx="10071782" cy="541147"/>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lang="en-US" sz="3400">
                <a:solidFill>
                  <a:srgbClr val="85C9B4"/>
                </a:solidFill>
                <a:latin typeface="Poppins"/>
                <a:ea typeface="Poppins"/>
                <a:cs typeface="Poppins"/>
                <a:sym typeface="Poppins"/>
              </a:rPr>
              <a:t>What is a Neonatal Intensive Care Unit (NICU)?</a:t>
            </a:r>
            <a:endParaRPr/>
          </a:p>
        </p:txBody>
      </p:sp>
      <p:grpSp>
        <p:nvGrpSpPr>
          <p:cNvPr id="117" name="Google Shape;117;p2"/>
          <p:cNvGrpSpPr/>
          <p:nvPr/>
        </p:nvGrpSpPr>
        <p:grpSpPr>
          <a:xfrm>
            <a:off x="7187518" y="904458"/>
            <a:ext cx="10071782" cy="1286867"/>
            <a:chOff x="0" y="-114300"/>
            <a:chExt cx="7844064" cy="1002232"/>
          </a:xfrm>
        </p:grpSpPr>
        <p:sp>
          <p:nvSpPr>
            <p:cNvPr id="118" name="Google Shape;118;p2"/>
            <p:cNvSpPr/>
            <p:nvPr/>
          </p:nvSpPr>
          <p:spPr>
            <a:xfrm>
              <a:off x="0" y="0"/>
              <a:ext cx="7844064" cy="887932"/>
            </a:xfrm>
            <a:custGeom>
              <a:rect b="b" l="l" r="r" t="t"/>
              <a:pathLst>
                <a:path extrusionOk="0" h="887932" w="7844064">
                  <a:moveTo>
                    <a:pt x="7640864" y="0"/>
                  </a:moveTo>
                  <a:cubicBezTo>
                    <a:pt x="7753088" y="0"/>
                    <a:pt x="7844064" y="198770"/>
                    <a:pt x="7844064" y="443966"/>
                  </a:cubicBezTo>
                  <a:cubicBezTo>
                    <a:pt x="7844064" y="689162"/>
                    <a:pt x="7753088" y="887932"/>
                    <a:pt x="7640864" y="887932"/>
                  </a:cubicBezTo>
                  <a:lnTo>
                    <a:pt x="203200" y="887932"/>
                  </a:lnTo>
                  <a:cubicBezTo>
                    <a:pt x="90976" y="887932"/>
                    <a:pt x="0" y="689162"/>
                    <a:pt x="0" y="443966"/>
                  </a:cubicBezTo>
                  <a:cubicBezTo>
                    <a:pt x="0" y="198770"/>
                    <a:pt x="90976" y="0"/>
                    <a:pt x="203200" y="0"/>
                  </a:cubicBezTo>
                  <a:lnTo>
                    <a:pt x="7640864" y="0"/>
                  </a:ln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2"/>
            <p:cNvSpPr txBox="1"/>
            <p:nvPr/>
          </p:nvSpPr>
          <p:spPr>
            <a:xfrm>
              <a:off x="0" y="-114300"/>
              <a:ext cx="7844064" cy="1002232"/>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lang="en-US" sz="3999">
                  <a:solidFill>
                    <a:srgbClr val="171C20"/>
                  </a:solidFill>
                  <a:latin typeface="Poppins"/>
                  <a:ea typeface="Poppins"/>
                  <a:cs typeface="Poppins"/>
                  <a:sym typeface="Poppins"/>
                </a:rPr>
                <a:t>Introduction</a:t>
              </a:r>
              <a:endParaRPr/>
            </a:p>
          </p:txBody>
        </p:sp>
      </p:grpSp>
      <p:sp>
        <p:nvSpPr>
          <p:cNvPr id="120" name="Google Shape;120;p2"/>
          <p:cNvSpPr txBox="1"/>
          <p:nvPr/>
        </p:nvSpPr>
        <p:spPr>
          <a:xfrm>
            <a:off x="7187518" y="3094178"/>
            <a:ext cx="10071900" cy="63033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Specialized hospital unit for newborns needing intensive medical care</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Cares for:</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Premature infants (born </a:t>
            </a:r>
            <a:r>
              <a:rPr b="1" i="0" lang="en-US" sz="3000" u="none" cap="none" strike="noStrike">
                <a:solidFill>
                  <a:srgbClr val="85C9B4"/>
                </a:solidFill>
                <a:latin typeface="Montserrat"/>
                <a:ea typeface="Montserrat"/>
                <a:cs typeface="Montserrat"/>
                <a:sym typeface="Montserrat"/>
              </a:rPr>
              <a:t>before 37 weeks</a:t>
            </a:r>
            <a:r>
              <a:rPr b="0" i="0" lang="en-US" sz="3000" u="none" cap="none" strike="noStrike">
                <a:solidFill>
                  <a:srgbClr val="171C20"/>
                </a:solidFill>
                <a:latin typeface="Montserrat"/>
                <a:ea typeface="Montserrat"/>
                <a:cs typeface="Montserrat"/>
                <a:sym typeface="Montserrat"/>
              </a:rPr>
              <a:t>)</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Infants with low birth weights or serious health conditions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Provides advanced technology and continuous monitoring</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Level of care depends of infant risk:</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Lower risk ⟶ 1 nurse for 2–3 infants</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Moderate risk ⟶ 1 nurse for 1–2 infants</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Higher risk ⟶ 1 nurse for 1 infant</a:t>
            </a:r>
            <a:endParaRPr/>
          </a:p>
        </p:txBody>
      </p:sp>
      <p:sp>
        <p:nvSpPr>
          <p:cNvPr id="121" name="Google Shape;121;p2"/>
          <p:cNvSpPr txBox="1"/>
          <p:nvPr/>
        </p:nvSpPr>
        <p:spPr>
          <a:xfrm>
            <a:off x="17526001" y="9567210"/>
            <a:ext cx="402770" cy="456354"/>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grpSp>
        <p:nvGrpSpPr>
          <p:cNvPr id="130" name="Google Shape;130;p3"/>
          <p:cNvGrpSpPr/>
          <p:nvPr/>
        </p:nvGrpSpPr>
        <p:grpSpPr>
          <a:xfrm>
            <a:off x="-3923578" y="-1732254"/>
            <a:ext cx="7847157" cy="7847157"/>
            <a:chOff x="0" y="0"/>
            <a:chExt cx="812800" cy="812800"/>
          </a:xfrm>
        </p:grpSpPr>
        <p:sp>
          <p:nvSpPr>
            <p:cNvPr id="131" name="Google Shape;131;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3" name="Google Shape;133;p3"/>
          <p:cNvGrpSpPr/>
          <p:nvPr/>
        </p:nvGrpSpPr>
        <p:grpSpPr>
          <a:xfrm>
            <a:off x="6887289" y="9723335"/>
            <a:ext cx="300229" cy="300229"/>
            <a:chOff x="0" y="0"/>
            <a:chExt cx="812800" cy="812800"/>
          </a:xfrm>
        </p:grpSpPr>
        <p:sp>
          <p:nvSpPr>
            <p:cNvPr id="134" name="Google Shape;134;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6" name="Google Shape;136;p3"/>
          <p:cNvGrpSpPr/>
          <p:nvPr/>
        </p:nvGrpSpPr>
        <p:grpSpPr>
          <a:xfrm>
            <a:off x="4356125" y="1146915"/>
            <a:ext cx="474357" cy="474357"/>
            <a:chOff x="0" y="0"/>
            <a:chExt cx="812800" cy="812800"/>
          </a:xfrm>
        </p:grpSpPr>
        <p:sp>
          <p:nvSpPr>
            <p:cNvPr id="137" name="Google Shape;137;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9" name="Google Shape;139;p3"/>
          <p:cNvSpPr/>
          <p:nvPr/>
        </p:nvSpPr>
        <p:spPr>
          <a:xfrm>
            <a:off x="0" y="1942807"/>
            <a:ext cx="6620804" cy="8344203"/>
          </a:xfrm>
          <a:custGeom>
            <a:rect b="b" l="l" r="r" t="t"/>
            <a:pathLst>
              <a:path extrusionOk="0" h="83230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935"/>
                </a:cubicBezTo>
                <a:lnTo>
                  <a:pt x="660400" y="832302"/>
                </a:lnTo>
                <a:lnTo>
                  <a:pt x="0" y="832302"/>
                </a:lnTo>
                <a:lnTo>
                  <a:pt x="0" y="329309"/>
                </a:lnTo>
                <a:cubicBezTo>
                  <a:pt x="1782" y="185660"/>
                  <a:pt x="93019" y="64045"/>
                  <a:pt x="220252" y="19070"/>
                </a:cubicBezTo>
                <a:close/>
              </a:path>
            </a:pathLst>
          </a:custGeom>
          <a:blipFill rotWithShape="1">
            <a:blip r:embed="rId3">
              <a:alphaModFix/>
            </a:blip>
            <a:stretch>
              <a:fillRect b="0" l="-49456" r="-3970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0" name="Google Shape;140;p3"/>
          <p:cNvGrpSpPr/>
          <p:nvPr/>
        </p:nvGrpSpPr>
        <p:grpSpPr>
          <a:xfrm>
            <a:off x="7187518" y="904458"/>
            <a:ext cx="10071782" cy="1286867"/>
            <a:chOff x="0" y="-114300"/>
            <a:chExt cx="7844064" cy="1002232"/>
          </a:xfrm>
        </p:grpSpPr>
        <p:sp>
          <p:nvSpPr>
            <p:cNvPr id="141" name="Google Shape;141;p3"/>
            <p:cNvSpPr/>
            <p:nvPr/>
          </p:nvSpPr>
          <p:spPr>
            <a:xfrm>
              <a:off x="0" y="0"/>
              <a:ext cx="7844064" cy="887932"/>
            </a:xfrm>
            <a:custGeom>
              <a:rect b="b" l="l" r="r" t="t"/>
              <a:pathLst>
                <a:path extrusionOk="0" h="887932" w="7844064">
                  <a:moveTo>
                    <a:pt x="7640864" y="0"/>
                  </a:moveTo>
                  <a:cubicBezTo>
                    <a:pt x="7753088" y="0"/>
                    <a:pt x="7844064" y="198770"/>
                    <a:pt x="7844064" y="443966"/>
                  </a:cubicBezTo>
                  <a:cubicBezTo>
                    <a:pt x="7844064" y="689162"/>
                    <a:pt x="7753088" y="887932"/>
                    <a:pt x="7640864" y="887932"/>
                  </a:cubicBezTo>
                  <a:lnTo>
                    <a:pt x="203200" y="887932"/>
                  </a:lnTo>
                  <a:cubicBezTo>
                    <a:pt x="90976" y="887932"/>
                    <a:pt x="0" y="689162"/>
                    <a:pt x="0" y="443966"/>
                  </a:cubicBezTo>
                  <a:cubicBezTo>
                    <a:pt x="0" y="198770"/>
                    <a:pt x="90976" y="0"/>
                    <a:pt x="203200" y="0"/>
                  </a:cubicBezTo>
                  <a:lnTo>
                    <a:pt x="7640864" y="0"/>
                  </a:ln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3"/>
            <p:cNvSpPr txBox="1"/>
            <p:nvPr/>
          </p:nvSpPr>
          <p:spPr>
            <a:xfrm>
              <a:off x="0" y="-114300"/>
              <a:ext cx="7844064" cy="1002232"/>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lang="en-US" sz="3999">
                  <a:solidFill>
                    <a:srgbClr val="171C20"/>
                  </a:solidFill>
                  <a:latin typeface="Poppins"/>
                  <a:ea typeface="Poppins"/>
                  <a:cs typeface="Poppins"/>
                  <a:sym typeface="Poppins"/>
                </a:rPr>
                <a:t>Research Question</a:t>
              </a:r>
              <a:endParaRPr/>
            </a:p>
          </p:txBody>
        </p:sp>
      </p:grpSp>
      <p:sp>
        <p:nvSpPr>
          <p:cNvPr id="143" name="Google Shape;143;p3"/>
          <p:cNvSpPr txBox="1"/>
          <p:nvPr/>
        </p:nvSpPr>
        <p:spPr>
          <a:xfrm>
            <a:off x="7187518" y="4101475"/>
            <a:ext cx="10071782" cy="541147"/>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lang="en-US" sz="3400">
                <a:solidFill>
                  <a:srgbClr val="85C9B4"/>
                </a:solidFill>
                <a:latin typeface="Poppins"/>
                <a:ea typeface="Poppins"/>
                <a:cs typeface="Poppins"/>
                <a:sym typeface="Poppins"/>
              </a:rPr>
              <a:t>Why Predict Length of Stay?</a:t>
            </a:r>
            <a:endParaRPr/>
          </a:p>
        </p:txBody>
      </p:sp>
      <p:sp>
        <p:nvSpPr>
          <p:cNvPr id="144" name="Google Shape;144;p3"/>
          <p:cNvSpPr txBox="1"/>
          <p:nvPr/>
        </p:nvSpPr>
        <p:spPr>
          <a:xfrm>
            <a:off x="7187518" y="4785497"/>
            <a:ext cx="10071900" cy="20550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Reflects infant health and recovery</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Impacts hospital resources and staffing</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Supports clinical decision-making and planning</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Helps identify high-risk infants early</a:t>
            </a:r>
            <a:endParaRPr/>
          </a:p>
        </p:txBody>
      </p:sp>
      <p:sp>
        <p:nvSpPr>
          <p:cNvPr id="145" name="Google Shape;145;p3"/>
          <p:cNvSpPr txBox="1"/>
          <p:nvPr/>
        </p:nvSpPr>
        <p:spPr>
          <a:xfrm>
            <a:off x="7187518" y="2398854"/>
            <a:ext cx="10071900" cy="992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3000">
                <a:solidFill>
                  <a:srgbClr val="171C20"/>
                </a:solidFill>
                <a:latin typeface="Montserrat"/>
                <a:ea typeface="Montserrat"/>
                <a:cs typeface="Montserrat"/>
                <a:sym typeface="Montserrat"/>
              </a:rPr>
              <a:t>Which modeling technique best predicts NICU length of stay?</a:t>
            </a:r>
            <a:endParaRPr/>
          </a:p>
        </p:txBody>
      </p:sp>
      <p:sp>
        <p:nvSpPr>
          <p:cNvPr id="146" name="Google Shape;146;p3"/>
          <p:cNvSpPr txBox="1"/>
          <p:nvPr/>
        </p:nvSpPr>
        <p:spPr>
          <a:xfrm>
            <a:off x="17449800" y="9567210"/>
            <a:ext cx="478971" cy="440057"/>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02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grpSp>
        <p:nvGrpSpPr>
          <p:cNvPr id="155" name="Google Shape;155;p4"/>
          <p:cNvGrpSpPr/>
          <p:nvPr/>
        </p:nvGrpSpPr>
        <p:grpSpPr>
          <a:xfrm>
            <a:off x="14364422" y="-1732254"/>
            <a:ext cx="7847157" cy="7847157"/>
            <a:chOff x="0" y="0"/>
            <a:chExt cx="812800" cy="812800"/>
          </a:xfrm>
        </p:grpSpPr>
        <p:sp>
          <p:nvSpPr>
            <p:cNvPr id="156" name="Google Shape;156;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8" name="Google Shape;158;p4"/>
          <p:cNvGrpSpPr/>
          <p:nvPr/>
        </p:nvGrpSpPr>
        <p:grpSpPr>
          <a:xfrm>
            <a:off x="11100482" y="9720193"/>
            <a:ext cx="300229" cy="300229"/>
            <a:chOff x="0" y="0"/>
            <a:chExt cx="812800" cy="812800"/>
          </a:xfrm>
        </p:grpSpPr>
        <p:sp>
          <p:nvSpPr>
            <p:cNvPr id="159" name="Google Shape;159;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1" name="Google Shape;161;p4"/>
          <p:cNvGrpSpPr/>
          <p:nvPr/>
        </p:nvGrpSpPr>
        <p:grpSpPr>
          <a:xfrm>
            <a:off x="13572038" y="1146915"/>
            <a:ext cx="474357" cy="474357"/>
            <a:chOff x="0" y="0"/>
            <a:chExt cx="812800" cy="812800"/>
          </a:xfrm>
        </p:grpSpPr>
        <p:sp>
          <p:nvSpPr>
            <p:cNvPr id="162" name="Google Shape;162;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4" name="Google Shape;164;p4"/>
          <p:cNvGrpSpPr/>
          <p:nvPr/>
        </p:nvGrpSpPr>
        <p:grpSpPr>
          <a:xfrm>
            <a:off x="1028700" y="881939"/>
            <a:ext cx="10071782" cy="1286867"/>
            <a:chOff x="0" y="-114300"/>
            <a:chExt cx="7844064" cy="1002232"/>
          </a:xfrm>
        </p:grpSpPr>
        <p:sp>
          <p:nvSpPr>
            <p:cNvPr id="165" name="Google Shape;165;p4"/>
            <p:cNvSpPr/>
            <p:nvPr/>
          </p:nvSpPr>
          <p:spPr>
            <a:xfrm>
              <a:off x="0" y="0"/>
              <a:ext cx="7844064" cy="887932"/>
            </a:xfrm>
            <a:custGeom>
              <a:rect b="b" l="l" r="r" t="t"/>
              <a:pathLst>
                <a:path extrusionOk="0" h="887932" w="7844064">
                  <a:moveTo>
                    <a:pt x="7640864" y="0"/>
                  </a:moveTo>
                  <a:cubicBezTo>
                    <a:pt x="7753088" y="0"/>
                    <a:pt x="7844064" y="198770"/>
                    <a:pt x="7844064" y="443966"/>
                  </a:cubicBezTo>
                  <a:cubicBezTo>
                    <a:pt x="7844064" y="689162"/>
                    <a:pt x="7753088" y="887932"/>
                    <a:pt x="7640864" y="887932"/>
                  </a:cubicBezTo>
                  <a:lnTo>
                    <a:pt x="203200" y="887932"/>
                  </a:lnTo>
                  <a:cubicBezTo>
                    <a:pt x="90976" y="887932"/>
                    <a:pt x="0" y="689162"/>
                    <a:pt x="0" y="443966"/>
                  </a:cubicBezTo>
                  <a:cubicBezTo>
                    <a:pt x="0" y="198770"/>
                    <a:pt x="90976" y="0"/>
                    <a:pt x="203200" y="0"/>
                  </a:cubicBezTo>
                  <a:lnTo>
                    <a:pt x="7640864" y="0"/>
                  </a:ln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4"/>
            <p:cNvSpPr txBox="1"/>
            <p:nvPr/>
          </p:nvSpPr>
          <p:spPr>
            <a:xfrm>
              <a:off x="0" y="-114300"/>
              <a:ext cx="7844064" cy="1002232"/>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lang="en-US" sz="3999">
                  <a:solidFill>
                    <a:srgbClr val="171C20"/>
                  </a:solidFill>
                  <a:latin typeface="Poppins"/>
                  <a:ea typeface="Poppins"/>
                  <a:cs typeface="Poppins"/>
                  <a:sym typeface="Poppins"/>
                </a:rPr>
                <a:t>Dataset Overview</a:t>
              </a:r>
              <a:endParaRPr/>
            </a:p>
          </p:txBody>
        </p:sp>
      </p:grpSp>
      <p:sp>
        <p:nvSpPr>
          <p:cNvPr id="167" name="Google Shape;167;p4"/>
          <p:cNvSpPr/>
          <p:nvPr/>
        </p:nvSpPr>
        <p:spPr>
          <a:xfrm>
            <a:off x="11667196" y="1942807"/>
            <a:ext cx="6620804" cy="8344193"/>
          </a:xfrm>
          <a:custGeom>
            <a:rect b="b" l="l" r="r" t="t"/>
            <a:pathLst>
              <a:path extrusionOk="0" h="1246982" w="989434">
                <a:moveTo>
                  <a:pt x="329989" y="19070"/>
                </a:moveTo>
                <a:cubicBezTo>
                  <a:pt x="380551" y="7556"/>
                  <a:pt x="438384" y="0"/>
                  <a:pt x="494983" y="0"/>
                </a:cubicBezTo>
                <a:cubicBezTo>
                  <a:pt x="551584" y="0"/>
                  <a:pt x="606049" y="6476"/>
                  <a:pt x="656240" y="17990"/>
                </a:cubicBezTo>
                <a:cubicBezTo>
                  <a:pt x="657309" y="18350"/>
                  <a:pt x="658377" y="18350"/>
                  <a:pt x="659444" y="18710"/>
                </a:cubicBezTo>
                <a:cubicBezTo>
                  <a:pt x="847933" y="64765"/>
                  <a:pt x="986764" y="186379"/>
                  <a:pt x="989434" y="338146"/>
                </a:cubicBezTo>
                <a:lnTo>
                  <a:pt x="989434" y="1246982"/>
                </a:lnTo>
                <a:lnTo>
                  <a:pt x="0" y="1246982"/>
                </a:lnTo>
                <a:lnTo>
                  <a:pt x="0" y="338821"/>
                </a:lnTo>
                <a:cubicBezTo>
                  <a:pt x="2670" y="185660"/>
                  <a:pt x="139364" y="64045"/>
                  <a:pt x="329989" y="19070"/>
                </a:cubicBezTo>
                <a:close/>
              </a:path>
            </a:pathLst>
          </a:custGeom>
          <a:blipFill rotWithShape="1">
            <a:blip r:embed="rId3">
              <a:alphaModFix/>
            </a:blip>
            <a:stretch>
              <a:fillRect b="0" l="-26042" r="-410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4"/>
          <p:cNvSpPr txBox="1"/>
          <p:nvPr/>
        </p:nvSpPr>
        <p:spPr>
          <a:xfrm>
            <a:off x="1028700" y="2724150"/>
            <a:ext cx="10071900" cy="47100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De-identified NICU data from </a:t>
            </a:r>
            <a:r>
              <a:rPr b="1" i="0" lang="en-US" sz="3000" u="none" cap="none" strike="noStrike">
                <a:solidFill>
                  <a:srgbClr val="85C9B4"/>
                </a:solidFill>
                <a:latin typeface="Montserrat"/>
                <a:ea typeface="Montserrat"/>
                <a:cs typeface="Montserrat"/>
                <a:sym typeface="Montserrat"/>
              </a:rPr>
              <a:t>Duke University Hospital</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Originally collected for a NICU simulation model</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Each observation represents</a:t>
            </a:r>
            <a:r>
              <a:rPr b="1" i="0" lang="en-US" sz="3000" u="none" cap="none" strike="noStrike">
                <a:solidFill>
                  <a:srgbClr val="85C9B4"/>
                </a:solidFill>
                <a:latin typeface="Montserrat"/>
                <a:ea typeface="Montserrat"/>
                <a:cs typeface="Montserrat"/>
                <a:sym typeface="Montserrat"/>
              </a:rPr>
              <a:t> one infant</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Response: Length of stay (days)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Predictors:</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Gestational age, birth weight</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Demographics (gender, race, inborn status)</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Neonatal complications (IVH, ROP, NEC, PDA)</a:t>
            </a:r>
            <a:endParaRPr/>
          </a:p>
        </p:txBody>
      </p:sp>
      <p:sp>
        <p:nvSpPr>
          <p:cNvPr id="169" name="Google Shape;169;p4"/>
          <p:cNvSpPr txBox="1"/>
          <p:nvPr/>
        </p:nvSpPr>
        <p:spPr>
          <a:xfrm>
            <a:off x="263812" y="9564068"/>
            <a:ext cx="498187" cy="456354"/>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03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5"/>
          <p:cNvSpPr/>
          <p:nvPr/>
        </p:nvSpPr>
        <p:spPr>
          <a:xfrm>
            <a:off x="598789" y="1028700"/>
            <a:ext cx="11635681" cy="8229600"/>
          </a:xfrm>
          <a:custGeom>
            <a:rect b="b" l="l" r="r" t="t"/>
            <a:pathLst>
              <a:path extrusionOk="0" h="8229600" w="11635681">
                <a:moveTo>
                  <a:pt x="0" y="0"/>
                </a:moveTo>
                <a:lnTo>
                  <a:pt x="11635682" y="0"/>
                </a:lnTo>
                <a:lnTo>
                  <a:pt x="11635682" y="8229600"/>
                </a:lnTo>
                <a:lnTo>
                  <a:pt x="0" y="82296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5"/>
          <p:cNvSpPr txBox="1"/>
          <p:nvPr/>
        </p:nvSpPr>
        <p:spPr>
          <a:xfrm>
            <a:off x="12234471" y="2040320"/>
            <a:ext cx="5454600" cy="41790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Length of stay is strongly </a:t>
            </a:r>
            <a:r>
              <a:rPr b="1" i="0" lang="en-US" sz="3000" u="none" cap="none" strike="noStrike">
                <a:solidFill>
                  <a:srgbClr val="85C9B4"/>
                </a:solidFill>
                <a:latin typeface="Montserrat"/>
                <a:ea typeface="Montserrat"/>
                <a:cs typeface="Montserrat"/>
                <a:sym typeface="Montserrat"/>
              </a:rPr>
              <a:t>right-skewed</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Most infants have relatively short stays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Small number of infants have very long stays (outliers)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Median stay </a:t>
            </a:r>
            <a:r>
              <a:rPr b="1" i="0" lang="en-US" sz="3000" u="none" cap="none" strike="noStrike">
                <a:solidFill>
                  <a:srgbClr val="85C9B4"/>
                </a:solidFill>
                <a:latin typeface="Montserrat"/>
                <a:ea typeface="Montserrat"/>
                <a:cs typeface="Montserrat"/>
                <a:sym typeface="Montserrat"/>
              </a:rPr>
              <a:t>≈ 9 days</a:t>
            </a:r>
            <a:endParaRPr/>
          </a:p>
        </p:txBody>
      </p:sp>
      <p:sp>
        <p:nvSpPr>
          <p:cNvPr id="180" name="Google Shape;180;p5"/>
          <p:cNvSpPr txBox="1"/>
          <p:nvPr/>
        </p:nvSpPr>
        <p:spPr>
          <a:xfrm>
            <a:off x="12234471" y="1000125"/>
            <a:ext cx="5454740" cy="541147"/>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lang="en-US" sz="3400">
                <a:solidFill>
                  <a:srgbClr val="85C9B4"/>
                </a:solidFill>
                <a:latin typeface="Poppins"/>
                <a:ea typeface="Poppins"/>
                <a:cs typeface="Poppins"/>
                <a:sym typeface="Poppins"/>
              </a:rPr>
              <a:t>Exploratory Data Analysis</a:t>
            </a:r>
            <a:endParaRPr/>
          </a:p>
        </p:txBody>
      </p:sp>
      <p:sp>
        <p:nvSpPr>
          <p:cNvPr id="181" name="Google Shape;181;p5"/>
          <p:cNvSpPr txBox="1"/>
          <p:nvPr/>
        </p:nvSpPr>
        <p:spPr>
          <a:xfrm>
            <a:off x="17449800" y="9567210"/>
            <a:ext cx="478971" cy="440057"/>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04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6"/>
          <p:cNvSpPr txBox="1"/>
          <p:nvPr/>
        </p:nvSpPr>
        <p:spPr>
          <a:xfrm>
            <a:off x="12234471" y="2040320"/>
            <a:ext cx="5454600" cy="31170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1" i="0" lang="en-US" sz="3000" u="none" cap="none" strike="noStrike">
                <a:solidFill>
                  <a:srgbClr val="85C9B4"/>
                </a:solidFill>
                <a:latin typeface="Montserrat"/>
                <a:ea typeface="Montserrat"/>
                <a:cs typeface="Montserrat"/>
                <a:sym typeface="Montserrat"/>
              </a:rPr>
              <a:t>Log transformation</a:t>
            </a:r>
            <a:r>
              <a:rPr b="0" i="0" lang="en-US" sz="3000" u="none" cap="none" strike="noStrike">
                <a:solidFill>
                  <a:srgbClr val="171C20"/>
                </a:solidFill>
                <a:latin typeface="Montserrat"/>
                <a:ea typeface="Montserrat"/>
                <a:cs typeface="Montserrat"/>
                <a:sym typeface="Montserrat"/>
              </a:rPr>
              <a:t> applied to reduce right-skew</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Resulting distribution is more balanced and suitable for modeling</a:t>
            </a:r>
            <a:endParaRPr/>
          </a:p>
        </p:txBody>
      </p:sp>
      <p:sp>
        <p:nvSpPr>
          <p:cNvPr id="191" name="Google Shape;191;p6"/>
          <p:cNvSpPr txBox="1"/>
          <p:nvPr/>
        </p:nvSpPr>
        <p:spPr>
          <a:xfrm>
            <a:off x="12234471" y="1000125"/>
            <a:ext cx="5454740" cy="541147"/>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lang="en-US" sz="3400">
                <a:solidFill>
                  <a:srgbClr val="85C9B4"/>
                </a:solidFill>
                <a:latin typeface="Poppins"/>
                <a:ea typeface="Poppins"/>
                <a:cs typeface="Poppins"/>
                <a:sym typeface="Poppins"/>
              </a:rPr>
              <a:t>Exploratory Data Analysis</a:t>
            </a:r>
            <a:endParaRPr/>
          </a:p>
        </p:txBody>
      </p:sp>
      <p:sp>
        <p:nvSpPr>
          <p:cNvPr id="192" name="Google Shape;192;p6"/>
          <p:cNvSpPr txBox="1"/>
          <p:nvPr/>
        </p:nvSpPr>
        <p:spPr>
          <a:xfrm>
            <a:off x="17449800" y="9567210"/>
            <a:ext cx="478971" cy="440057"/>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05</a:t>
            </a:r>
            <a:endParaRPr/>
          </a:p>
        </p:txBody>
      </p:sp>
      <p:pic>
        <p:nvPicPr>
          <p:cNvPr id="193" name="Google Shape;193;p6"/>
          <p:cNvPicPr preferRelativeResize="0"/>
          <p:nvPr/>
        </p:nvPicPr>
        <p:blipFill rotWithShape="1">
          <a:blip r:embed="rId3">
            <a:alphaModFix/>
          </a:blip>
          <a:srcRect b="0" l="0" r="0" t="0"/>
          <a:stretch/>
        </p:blipFill>
        <p:spPr>
          <a:xfrm>
            <a:off x="598789" y="1100300"/>
            <a:ext cx="11635682" cy="824274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7"/>
          <p:cNvSpPr/>
          <p:nvPr/>
        </p:nvSpPr>
        <p:spPr>
          <a:xfrm>
            <a:off x="598789" y="1028700"/>
            <a:ext cx="11635681" cy="8229600"/>
          </a:xfrm>
          <a:custGeom>
            <a:rect b="b" l="l" r="r" t="t"/>
            <a:pathLst>
              <a:path extrusionOk="0" h="8229600" w="11635681">
                <a:moveTo>
                  <a:pt x="0" y="0"/>
                </a:moveTo>
                <a:lnTo>
                  <a:pt x="11635682" y="0"/>
                </a:lnTo>
                <a:lnTo>
                  <a:pt x="11635682" y="8229600"/>
                </a:lnTo>
                <a:lnTo>
                  <a:pt x="0" y="82296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7"/>
          <p:cNvSpPr txBox="1"/>
          <p:nvPr/>
        </p:nvSpPr>
        <p:spPr>
          <a:xfrm>
            <a:off x="12234471" y="1647388"/>
            <a:ext cx="5454600" cy="73653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Average length of stay is highest at the earliest gestational ages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Peak occurs </a:t>
            </a:r>
            <a:r>
              <a:rPr b="1" i="0" lang="en-US" sz="3000" u="none" cap="none" strike="noStrike">
                <a:solidFill>
                  <a:srgbClr val="85C9B4"/>
                </a:solidFill>
                <a:latin typeface="Montserrat"/>
                <a:ea typeface="Montserrat"/>
                <a:cs typeface="Montserrat"/>
                <a:sym typeface="Montserrat"/>
              </a:rPr>
              <a:t>around 24 weeks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Length of stay decreases steadily as gestational age increases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Infants born closer to full term have shorter stays.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Premature infants experience longer stays due to increased medical complexity</a:t>
            </a:r>
            <a:endParaRPr/>
          </a:p>
        </p:txBody>
      </p:sp>
      <p:sp>
        <p:nvSpPr>
          <p:cNvPr id="204" name="Google Shape;204;p7"/>
          <p:cNvSpPr txBox="1"/>
          <p:nvPr/>
        </p:nvSpPr>
        <p:spPr>
          <a:xfrm>
            <a:off x="12234471" y="1000125"/>
            <a:ext cx="5454740" cy="541147"/>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lang="en-US" sz="3400">
                <a:solidFill>
                  <a:srgbClr val="85C9B4"/>
                </a:solidFill>
                <a:latin typeface="Poppins"/>
                <a:ea typeface="Poppins"/>
                <a:cs typeface="Poppins"/>
                <a:sym typeface="Poppins"/>
              </a:rPr>
              <a:t>Exploratory Data Analysis</a:t>
            </a:r>
            <a:endParaRPr/>
          </a:p>
        </p:txBody>
      </p:sp>
      <p:sp>
        <p:nvSpPr>
          <p:cNvPr id="205" name="Google Shape;205;p7"/>
          <p:cNvSpPr txBox="1"/>
          <p:nvPr/>
        </p:nvSpPr>
        <p:spPr>
          <a:xfrm>
            <a:off x="17449800" y="9567210"/>
            <a:ext cx="478971" cy="440057"/>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06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grpSp>
        <p:nvGrpSpPr>
          <p:cNvPr id="214" name="Google Shape;214;p8"/>
          <p:cNvGrpSpPr/>
          <p:nvPr/>
        </p:nvGrpSpPr>
        <p:grpSpPr>
          <a:xfrm>
            <a:off x="-3923578" y="-1732254"/>
            <a:ext cx="7847157" cy="7847157"/>
            <a:chOff x="0" y="0"/>
            <a:chExt cx="812800" cy="812800"/>
          </a:xfrm>
        </p:grpSpPr>
        <p:sp>
          <p:nvSpPr>
            <p:cNvPr id="215" name="Google Shape;215;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7" name="Google Shape;217;p8"/>
          <p:cNvGrpSpPr/>
          <p:nvPr/>
        </p:nvGrpSpPr>
        <p:grpSpPr>
          <a:xfrm>
            <a:off x="6887289" y="9723335"/>
            <a:ext cx="300229" cy="300229"/>
            <a:chOff x="0" y="0"/>
            <a:chExt cx="812800" cy="812800"/>
          </a:xfrm>
        </p:grpSpPr>
        <p:sp>
          <p:nvSpPr>
            <p:cNvPr id="218" name="Google Shape;218;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0" name="Google Shape;220;p8"/>
          <p:cNvGrpSpPr/>
          <p:nvPr/>
        </p:nvGrpSpPr>
        <p:grpSpPr>
          <a:xfrm>
            <a:off x="4356125" y="1146915"/>
            <a:ext cx="474357" cy="474357"/>
            <a:chOff x="0" y="0"/>
            <a:chExt cx="812800" cy="812800"/>
          </a:xfrm>
        </p:grpSpPr>
        <p:sp>
          <p:nvSpPr>
            <p:cNvPr id="221" name="Google Shape;221;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3" name="Google Shape;223;p8"/>
          <p:cNvSpPr txBox="1"/>
          <p:nvPr/>
        </p:nvSpPr>
        <p:spPr>
          <a:xfrm>
            <a:off x="7187518" y="2381581"/>
            <a:ext cx="10071900" cy="63033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Used </a:t>
            </a:r>
            <a:r>
              <a:rPr b="1" i="0" lang="en-US" sz="3000" u="none" cap="none" strike="noStrike">
                <a:solidFill>
                  <a:srgbClr val="85C9B4"/>
                </a:solidFill>
                <a:latin typeface="Montserrat"/>
                <a:ea typeface="Montserrat"/>
                <a:cs typeface="Montserrat"/>
                <a:sym typeface="Montserrat"/>
              </a:rPr>
              <a:t>k-means clustering</a:t>
            </a:r>
            <a:r>
              <a:rPr b="0" i="0" lang="en-US" sz="3000" u="none" cap="none" strike="noStrike">
                <a:solidFill>
                  <a:srgbClr val="171C20"/>
                </a:solidFill>
                <a:latin typeface="Montserrat"/>
                <a:ea typeface="Montserrat"/>
                <a:cs typeface="Montserrat"/>
                <a:sym typeface="Montserrat"/>
              </a:rPr>
              <a:t> to group similar patients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Identified </a:t>
            </a:r>
            <a:r>
              <a:rPr b="1" i="0" lang="en-US" sz="3000" u="none" cap="none" strike="noStrike">
                <a:solidFill>
                  <a:srgbClr val="85C9B4"/>
                </a:solidFill>
                <a:latin typeface="Montserrat"/>
                <a:ea typeface="Montserrat"/>
                <a:cs typeface="Montserrat"/>
                <a:sym typeface="Montserrat"/>
              </a:rPr>
              <a:t>4 groups</a:t>
            </a:r>
            <a:r>
              <a:rPr b="0" i="0" lang="en-US" sz="3000" u="none" cap="none" strike="noStrike">
                <a:solidFill>
                  <a:srgbClr val="171C20"/>
                </a:solidFill>
                <a:latin typeface="Montserrat"/>
                <a:ea typeface="Montserrat"/>
                <a:cs typeface="Montserrat"/>
                <a:sym typeface="Montserrat"/>
              </a:rPr>
              <a:t>:</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Extremely premature</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Very premature</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Moderately premature</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Near-term</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Groups based on:</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Gestational age</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Birth weight</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Neonatal complications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Variables standardized before clustering</a:t>
            </a:r>
            <a:endParaRPr/>
          </a:p>
        </p:txBody>
      </p:sp>
      <p:grpSp>
        <p:nvGrpSpPr>
          <p:cNvPr id="224" name="Google Shape;224;p8"/>
          <p:cNvGrpSpPr/>
          <p:nvPr/>
        </p:nvGrpSpPr>
        <p:grpSpPr>
          <a:xfrm>
            <a:off x="7187518" y="904458"/>
            <a:ext cx="10071782" cy="1286867"/>
            <a:chOff x="0" y="-114300"/>
            <a:chExt cx="7844064" cy="1002232"/>
          </a:xfrm>
        </p:grpSpPr>
        <p:sp>
          <p:nvSpPr>
            <p:cNvPr id="225" name="Google Shape;225;p8"/>
            <p:cNvSpPr/>
            <p:nvPr/>
          </p:nvSpPr>
          <p:spPr>
            <a:xfrm>
              <a:off x="0" y="0"/>
              <a:ext cx="7844064" cy="887932"/>
            </a:xfrm>
            <a:custGeom>
              <a:rect b="b" l="l" r="r" t="t"/>
              <a:pathLst>
                <a:path extrusionOk="0" h="887932" w="7844064">
                  <a:moveTo>
                    <a:pt x="7640864" y="0"/>
                  </a:moveTo>
                  <a:cubicBezTo>
                    <a:pt x="7753088" y="0"/>
                    <a:pt x="7844064" y="198770"/>
                    <a:pt x="7844064" y="443966"/>
                  </a:cubicBezTo>
                  <a:cubicBezTo>
                    <a:pt x="7844064" y="689162"/>
                    <a:pt x="7753088" y="887932"/>
                    <a:pt x="7640864" y="887932"/>
                  </a:cubicBezTo>
                  <a:lnTo>
                    <a:pt x="203200" y="887932"/>
                  </a:lnTo>
                  <a:cubicBezTo>
                    <a:pt x="90976" y="887932"/>
                    <a:pt x="0" y="689162"/>
                    <a:pt x="0" y="443966"/>
                  </a:cubicBezTo>
                  <a:cubicBezTo>
                    <a:pt x="0" y="198770"/>
                    <a:pt x="90976" y="0"/>
                    <a:pt x="203200" y="0"/>
                  </a:cubicBezTo>
                  <a:lnTo>
                    <a:pt x="7640864" y="0"/>
                  </a:ln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8"/>
            <p:cNvSpPr txBox="1"/>
            <p:nvPr/>
          </p:nvSpPr>
          <p:spPr>
            <a:xfrm>
              <a:off x="0" y="-114300"/>
              <a:ext cx="7844064" cy="1002232"/>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lang="en-US" sz="3999">
                  <a:solidFill>
                    <a:srgbClr val="171C20"/>
                  </a:solidFill>
                  <a:latin typeface="Poppins"/>
                  <a:ea typeface="Poppins"/>
                  <a:cs typeface="Poppins"/>
                  <a:sym typeface="Poppins"/>
                </a:rPr>
                <a:t>Clustering Approach</a:t>
              </a:r>
              <a:endParaRPr/>
            </a:p>
          </p:txBody>
        </p:sp>
      </p:grpSp>
      <p:sp>
        <p:nvSpPr>
          <p:cNvPr id="227" name="Google Shape;227;p8"/>
          <p:cNvSpPr/>
          <p:nvPr/>
        </p:nvSpPr>
        <p:spPr>
          <a:xfrm>
            <a:off x="0" y="1942807"/>
            <a:ext cx="6620804" cy="8344203"/>
          </a:xfrm>
          <a:custGeom>
            <a:rect b="b" l="l" r="r" t="t"/>
            <a:pathLst>
              <a:path extrusionOk="0" h="83230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935"/>
                </a:cubicBezTo>
                <a:lnTo>
                  <a:pt x="660400" y="832302"/>
                </a:lnTo>
                <a:lnTo>
                  <a:pt x="0" y="832302"/>
                </a:lnTo>
                <a:lnTo>
                  <a:pt x="0" y="329309"/>
                </a:lnTo>
                <a:cubicBezTo>
                  <a:pt x="1782" y="185660"/>
                  <a:pt x="93019" y="64045"/>
                  <a:pt x="220252" y="19070"/>
                </a:cubicBezTo>
                <a:close/>
              </a:path>
            </a:pathLst>
          </a:custGeom>
          <a:blipFill rotWithShape="1">
            <a:blip r:embed="rId3">
              <a:alphaModFix/>
            </a:blip>
            <a:stretch>
              <a:fillRect b="0" l="-44582" r="-4458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8"/>
          <p:cNvSpPr txBox="1"/>
          <p:nvPr/>
        </p:nvSpPr>
        <p:spPr>
          <a:xfrm>
            <a:off x="17449800" y="9567210"/>
            <a:ext cx="478971" cy="440057"/>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07</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9"/>
          <p:cNvSpPr/>
          <p:nvPr/>
        </p:nvSpPr>
        <p:spPr>
          <a:xfrm>
            <a:off x="598789" y="1028700"/>
            <a:ext cx="11635681" cy="8229600"/>
          </a:xfrm>
          <a:custGeom>
            <a:rect b="b" l="l" r="r" t="t"/>
            <a:pathLst>
              <a:path extrusionOk="0" h="8229600" w="11635681">
                <a:moveTo>
                  <a:pt x="0" y="0"/>
                </a:moveTo>
                <a:lnTo>
                  <a:pt x="11635682" y="0"/>
                </a:lnTo>
                <a:lnTo>
                  <a:pt x="11635682" y="8229600"/>
                </a:lnTo>
                <a:lnTo>
                  <a:pt x="0" y="82296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9"/>
          <p:cNvSpPr txBox="1"/>
          <p:nvPr/>
        </p:nvSpPr>
        <p:spPr>
          <a:xfrm>
            <a:off x="12234471" y="1863607"/>
            <a:ext cx="5454600" cy="57720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Extremely and very premature infants:</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Lower gestational age</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Lower birth weight</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Higher complication rates</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Longer NICU stays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Clear relationship between prematurity and outcomes</a:t>
            </a:r>
            <a:endParaRPr/>
          </a:p>
        </p:txBody>
      </p:sp>
      <p:sp>
        <p:nvSpPr>
          <p:cNvPr id="239" name="Google Shape;239;p9"/>
          <p:cNvSpPr txBox="1"/>
          <p:nvPr/>
        </p:nvSpPr>
        <p:spPr>
          <a:xfrm>
            <a:off x="12234471" y="1000125"/>
            <a:ext cx="5454740" cy="541147"/>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lang="en-US" sz="3400">
                <a:solidFill>
                  <a:srgbClr val="85C9B4"/>
                </a:solidFill>
                <a:latin typeface="Poppins"/>
                <a:ea typeface="Poppins"/>
                <a:cs typeface="Poppins"/>
                <a:sym typeface="Poppins"/>
              </a:rPr>
              <a:t>Clustering Results</a:t>
            </a:r>
            <a:endParaRPr/>
          </a:p>
        </p:txBody>
      </p:sp>
      <p:sp>
        <p:nvSpPr>
          <p:cNvPr id="240" name="Google Shape;240;p9"/>
          <p:cNvSpPr txBox="1"/>
          <p:nvPr/>
        </p:nvSpPr>
        <p:spPr>
          <a:xfrm>
            <a:off x="17449800" y="9567210"/>
            <a:ext cx="478971" cy="440057"/>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08</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grpSp>
        <p:nvGrpSpPr>
          <p:cNvPr id="249" name="Google Shape;249;p10"/>
          <p:cNvGrpSpPr/>
          <p:nvPr/>
        </p:nvGrpSpPr>
        <p:grpSpPr>
          <a:xfrm>
            <a:off x="-3923578" y="-1732254"/>
            <a:ext cx="7847157" cy="7847157"/>
            <a:chOff x="0" y="0"/>
            <a:chExt cx="812800" cy="812800"/>
          </a:xfrm>
        </p:grpSpPr>
        <p:sp>
          <p:nvSpPr>
            <p:cNvPr id="250" name="Google Shape;25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2" name="Google Shape;252;p10"/>
          <p:cNvGrpSpPr/>
          <p:nvPr/>
        </p:nvGrpSpPr>
        <p:grpSpPr>
          <a:xfrm>
            <a:off x="6887289" y="9723335"/>
            <a:ext cx="300229" cy="300229"/>
            <a:chOff x="0" y="0"/>
            <a:chExt cx="812800" cy="812800"/>
          </a:xfrm>
        </p:grpSpPr>
        <p:sp>
          <p:nvSpPr>
            <p:cNvPr id="253" name="Google Shape;25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5" name="Google Shape;255;p10"/>
          <p:cNvGrpSpPr/>
          <p:nvPr/>
        </p:nvGrpSpPr>
        <p:grpSpPr>
          <a:xfrm>
            <a:off x="4356125" y="1146915"/>
            <a:ext cx="474357" cy="474357"/>
            <a:chOff x="0" y="0"/>
            <a:chExt cx="812800" cy="812800"/>
          </a:xfrm>
        </p:grpSpPr>
        <p:sp>
          <p:nvSpPr>
            <p:cNvPr id="256" name="Google Shape;25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8" name="Google Shape;258;p10"/>
          <p:cNvGrpSpPr/>
          <p:nvPr/>
        </p:nvGrpSpPr>
        <p:grpSpPr>
          <a:xfrm>
            <a:off x="7187518" y="904458"/>
            <a:ext cx="10071782" cy="1286867"/>
            <a:chOff x="0" y="-114300"/>
            <a:chExt cx="7844064" cy="1002232"/>
          </a:xfrm>
        </p:grpSpPr>
        <p:sp>
          <p:nvSpPr>
            <p:cNvPr id="259" name="Google Shape;259;p10"/>
            <p:cNvSpPr/>
            <p:nvPr/>
          </p:nvSpPr>
          <p:spPr>
            <a:xfrm>
              <a:off x="0" y="0"/>
              <a:ext cx="7844064" cy="887932"/>
            </a:xfrm>
            <a:custGeom>
              <a:rect b="b" l="l" r="r" t="t"/>
              <a:pathLst>
                <a:path extrusionOk="0" h="887932" w="7844064">
                  <a:moveTo>
                    <a:pt x="7640864" y="0"/>
                  </a:moveTo>
                  <a:cubicBezTo>
                    <a:pt x="7753088" y="0"/>
                    <a:pt x="7844064" y="198770"/>
                    <a:pt x="7844064" y="443966"/>
                  </a:cubicBezTo>
                  <a:cubicBezTo>
                    <a:pt x="7844064" y="689162"/>
                    <a:pt x="7753088" y="887932"/>
                    <a:pt x="7640864" y="887932"/>
                  </a:cubicBezTo>
                  <a:lnTo>
                    <a:pt x="203200" y="887932"/>
                  </a:lnTo>
                  <a:cubicBezTo>
                    <a:pt x="90976" y="887932"/>
                    <a:pt x="0" y="689162"/>
                    <a:pt x="0" y="443966"/>
                  </a:cubicBezTo>
                  <a:cubicBezTo>
                    <a:pt x="0" y="198770"/>
                    <a:pt x="90976" y="0"/>
                    <a:pt x="203200" y="0"/>
                  </a:cubicBezTo>
                  <a:lnTo>
                    <a:pt x="7640864" y="0"/>
                  </a:ln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0"/>
            <p:cNvSpPr txBox="1"/>
            <p:nvPr/>
          </p:nvSpPr>
          <p:spPr>
            <a:xfrm>
              <a:off x="0" y="-114300"/>
              <a:ext cx="7844064" cy="1002232"/>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lang="en-US" sz="3999">
                  <a:solidFill>
                    <a:srgbClr val="171C20"/>
                  </a:solidFill>
                  <a:latin typeface="Poppins"/>
                  <a:ea typeface="Poppins"/>
                  <a:cs typeface="Poppins"/>
                  <a:sym typeface="Poppins"/>
                </a:rPr>
                <a:t>Statistical Methods</a:t>
              </a:r>
              <a:endParaRPr/>
            </a:p>
          </p:txBody>
        </p:sp>
      </p:grpSp>
      <p:sp>
        <p:nvSpPr>
          <p:cNvPr id="261" name="Google Shape;261;p10"/>
          <p:cNvSpPr/>
          <p:nvPr/>
        </p:nvSpPr>
        <p:spPr>
          <a:xfrm>
            <a:off x="0" y="1942807"/>
            <a:ext cx="6620804" cy="8344203"/>
          </a:xfrm>
          <a:custGeom>
            <a:rect b="b" l="l" r="r" t="t"/>
            <a:pathLst>
              <a:path extrusionOk="0" h="83230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935"/>
                </a:cubicBezTo>
                <a:lnTo>
                  <a:pt x="660400" y="832302"/>
                </a:lnTo>
                <a:lnTo>
                  <a:pt x="0" y="832302"/>
                </a:lnTo>
                <a:lnTo>
                  <a:pt x="0" y="329309"/>
                </a:lnTo>
                <a:cubicBezTo>
                  <a:pt x="1782" y="185660"/>
                  <a:pt x="93019" y="64045"/>
                  <a:pt x="220252" y="19070"/>
                </a:cubicBezTo>
                <a:close/>
              </a:path>
            </a:pathLst>
          </a:custGeom>
          <a:blipFill rotWithShape="1">
            <a:blip r:embed="rId3">
              <a:alphaModFix/>
            </a:blip>
            <a:stretch>
              <a:fillRect b="0" l="-45575" r="-4358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0"/>
          <p:cNvSpPr txBox="1"/>
          <p:nvPr/>
        </p:nvSpPr>
        <p:spPr>
          <a:xfrm>
            <a:off x="7187518" y="2410156"/>
            <a:ext cx="10071782" cy="541147"/>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lang="en-US" sz="3400">
                <a:solidFill>
                  <a:srgbClr val="85C9B4"/>
                </a:solidFill>
                <a:latin typeface="Poppins"/>
                <a:ea typeface="Poppins"/>
                <a:cs typeface="Poppins"/>
                <a:sym typeface="Poppins"/>
              </a:rPr>
              <a:t>Before Modeling:</a:t>
            </a:r>
            <a:endParaRPr/>
          </a:p>
        </p:txBody>
      </p:sp>
      <p:sp>
        <p:nvSpPr>
          <p:cNvPr id="263" name="Google Shape;263;p10"/>
          <p:cNvSpPr txBox="1"/>
          <p:nvPr/>
        </p:nvSpPr>
        <p:spPr>
          <a:xfrm>
            <a:off x="7187518" y="5374584"/>
            <a:ext cx="10071900" cy="15237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Two models used to predict length of stay:</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Log-linear regression</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Random forest</a:t>
            </a:r>
            <a:endParaRPr/>
          </a:p>
        </p:txBody>
      </p:sp>
      <p:sp>
        <p:nvSpPr>
          <p:cNvPr id="264" name="Google Shape;264;p10"/>
          <p:cNvSpPr txBox="1"/>
          <p:nvPr/>
        </p:nvSpPr>
        <p:spPr>
          <a:xfrm>
            <a:off x="7187518" y="2993334"/>
            <a:ext cx="10071900" cy="15237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Data split into:</a:t>
            </a:r>
            <a:endParaRPr/>
          </a:p>
          <a:p>
            <a:pPr indent="-431801" lvl="2" marL="1295403" marR="0" rtl="0" algn="l">
              <a:lnSpc>
                <a:spcPct val="115000"/>
              </a:lnSpc>
              <a:spcBef>
                <a:spcPts val="0"/>
              </a:spcBef>
              <a:spcAft>
                <a:spcPts val="0"/>
              </a:spcAft>
              <a:buClr>
                <a:srgbClr val="171C20"/>
              </a:buClr>
              <a:buSzPts val="3000"/>
              <a:buFont typeface="Arial"/>
              <a:buChar char="⚬"/>
            </a:pPr>
            <a:r>
              <a:rPr b="1" i="0" lang="en-US" sz="3000" u="none" cap="none" strike="noStrike">
                <a:solidFill>
                  <a:srgbClr val="85C9B4"/>
                </a:solidFill>
                <a:latin typeface="Montserrat"/>
                <a:ea typeface="Montserrat"/>
                <a:cs typeface="Montserrat"/>
                <a:sym typeface="Montserrat"/>
              </a:rPr>
              <a:t>80%</a:t>
            </a:r>
            <a:r>
              <a:rPr b="0" i="0" lang="en-US" sz="3000" u="none" cap="none" strike="noStrike">
                <a:solidFill>
                  <a:srgbClr val="171C20"/>
                </a:solidFill>
                <a:latin typeface="Montserrat"/>
                <a:ea typeface="Montserrat"/>
                <a:cs typeface="Montserrat"/>
                <a:sym typeface="Montserrat"/>
              </a:rPr>
              <a:t> training</a:t>
            </a:r>
            <a:endParaRPr/>
          </a:p>
          <a:p>
            <a:pPr indent="-431801" lvl="2" marL="1295403" marR="0" rtl="0" algn="l">
              <a:lnSpc>
                <a:spcPct val="115000"/>
              </a:lnSpc>
              <a:spcBef>
                <a:spcPts val="0"/>
              </a:spcBef>
              <a:spcAft>
                <a:spcPts val="0"/>
              </a:spcAft>
              <a:buClr>
                <a:srgbClr val="171C20"/>
              </a:buClr>
              <a:buSzPts val="3000"/>
              <a:buFont typeface="Arial"/>
              <a:buChar char="⚬"/>
            </a:pPr>
            <a:r>
              <a:rPr b="1" i="0" lang="en-US" sz="3000" u="none" cap="none" strike="noStrike">
                <a:solidFill>
                  <a:srgbClr val="85C9B4"/>
                </a:solidFill>
                <a:latin typeface="Montserrat"/>
                <a:ea typeface="Montserrat"/>
                <a:cs typeface="Montserrat"/>
                <a:sym typeface="Montserrat"/>
              </a:rPr>
              <a:t>20%</a:t>
            </a:r>
            <a:r>
              <a:rPr b="0" i="0" lang="en-US" sz="3000" u="none" cap="none" strike="noStrike">
                <a:solidFill>
                  <a:srgbClr val="171C20"/>
                </a:solidFill>
                <a:latin typeface="Montserrat"/>
                <a:ea typeface="Montserrat"/>
                <a:cs typeface="Montserrat"/>
                <a:sym typeface="Montserrat"/>
              </a:rPr>
              <a:t> testing</a:t>
            </a:r>
            <a:endParaRPr/>
          </a:p>
        </p:txBody>
      </p:sp>
      <p:sp>
        <p:nvSpPr>
          <p:cNvPr id="265" name="Google Shape;265;p10"/>
          <p:cNvSpPr txBox="1"/>
          <p:nvPr/>
        </p:nvSpPr>
        <p:spPr>
          <a:xfrm>
            <a:off x="17449800" y="9567210"/>
            <a:ext cx="478971" cy="440057"/>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09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1"/>
          <p:cNvSpPr txBox="1"/>
          <p:nvPr/>
        </p:nvSpPr>
        <p:spPr>
          <a:xfrm>
            <a:off x="12019515" y="2724150"/>
            <a:ext cx="5454600" cy="47100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Model accuracy evaluated using RMSE (days)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Higher RMSE = </a:t>
            </a:r>
            <a:r>
              <a:rPr b="1" i="0" lang="en-US" sz="3000" u="none" cap="none" strike="noStrike">
                <a:solidFill>
                  <a:srgbClr val="85C9B4"/>
                </a:solidFill>
                <a:latin typeface="Montserrat"/>
                <a:ea typeface="Montserrat"/>
                <a:cs typeface="Montserrat"/>
                <a:sym typeface="Montserrat"/>
              </a:rPr>
              <a:t>less accurate</a:t>
            </a:r>
            <a:r>
              <a:rPr b="0" i="0" lang="en-US" sz="3000" u="none" cap="none" strike="noStrike">
                <a:solidFill>
                  <a:srgbClr val="171C20"/>
                </a:solidFill>
                <a:latin typeface="Montserrat"/>
                <a:ea typeface="Montserrat"/>
                <a:cs typeface="Montserrat"/>
                <a:sym typeface="Montserrat"/>
              </a:rPr>
              <a:t> predictions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Median length of stay </a:t>
            </a:r>
            <a:r>
              <a:rPr b="1" i="0" lang="en-US" sz="3000" u="none" cap="none" strike="noStrike">
                <a:solidFill>
                  <a:srgbClr val="85C9B4"/>
                </a:solidFill>
                <a:latin typeface="Montserrat"/>
                <a:ea typeface="Montserrat"/>
                <a:cs typeface="Montserrat"/>
                <a:sym typeface="Montserrat"/>
              </a:rPr>
              <a:t>≈ 9 days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Initial models show </a:t>
            </a:r>
            <a:r>
              <a:rPr b="1" i="0" lang="en-US" sz="3000" u="none" cap="none" strike="noStrike">
                <a:solidFill>
                  <a:srgbClr val="85C9B4"/>
                </a:solidFill>
                <a:latin typeface="Montserrat"/>
                <a:ea typeface="Montserrat"/>
                <a:cs typeface="Montserrat"/>
                <a:sym typeface="Montserrat"/>
              </a:rPr>
              <a:t>high</a:t>
            </a:r>
            <a:r>
              <a:rPr b="0" i="0" lang="en-US" sz="3000" u="none" cap="none" strike="noStrike">
                <a:solidFill>
                  <a:srgbClr val="171C20"/>
                </a:solidFill>
                <a:latin typeface="Montserrat"/>
                <a:ea typeface="Montserrat"/>
                <a:cs typeface="Montserrat"/>
                <a:sym typeface="Montserrat"/>
              </a:rPr>
              <a:t> prediction error</a:t>
            </a:r>
            <a:endParaRPr/>
          </a:p>
        </p:txBody>
      </p:sp>
      <p:sp>
        <p:nvSpPr>
          <p:cNvPr id="275" name="Google Shape;275;p11"/>
          <p:cNvSpPr txBox="1"/>
          <p:nvPr/>
        </p:nvSpPr>
        <p:spPr>
          <a:xfrm>
            <a:off x="12019515" y="1758973"/>
            <a:ext cx="5454740" cy="541147"/>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lang="en-US" sz="3400">
                <a:solidFill>
                  <a:srgbClr val="85C9B4"/>
                </a:solidFill>
                <a:latin typeface="Poppins"/>
                <a:ea typeface="Poppins"/>
                <a:cs typeface="Poppins"/>
                <a:sym typeface="Poppins"/>
              </a:rPr>
              <a:t>Model Validation</a:t>
            </a:r>
            <a:endParaRPr/>
          </a:p>
        </p:txBody>
      </p:sp>
      <p:graphicFrame>
        <p:nvGraphicFramePr>
          <p:cNvPr id="276" name="Google Shape;276;p11"/>
          <p:cNvGraphicFramePr/>
          <p:nvPr/>
        </p:nvGraphicFramePr>
        <p:xfrm>
          <a:off x="813743" y="3284635"/>
          <a:ext cx="3000000" cy="3000000"/>
        </p:xfrm>
        <a:graphic>
          <a:graphicData uri="http://schemas.openxmlformats.org/drawingml/2006/table">
            <a:tbl>
              <a:tblPr>
                <a:noFill/>
                <a:tableStyleId>{C47925D3-91DE-4CE5-BB47-F3D8AFCD5638}</a:tableStyleId>
              </a:tblPr>
              <a:tblGrid>
                <a:gridCol w="5602875"/>
                <a:gridCol w="5602875"/>
              </a:tblGrid>
              <a:tr h="1220200">
                <a:tc>
                  <a:txBody>
                    <a:bodyPr/>
                    <a:lstStyle/>
                    <a:p>
                      <a:pPr indent="0" lvl="0" marL="0" marR="0" rtl="0" algn="l">
                        <a:spcBef>
                          <a:spcPts val="0"/>
                        </a:spcBef>
                        <a:spcAft>
                          <a:spcPts val="0"/>
                        </a:spcAft>
                        <a:buClr>
                          <a:srgbClr val="171C20"/>
                        </a:buClr>
                        <a:buSzPts val="2800"/>
                        <a:buFont typeface="Montserrat"/>
                        <a:buNone/>
                      </a:pPr>
                      <a:r>
                        <a:rPr b="1" lang="en-US" sz="2800" u="none" cap="none" strike="noStrike">
                          <a:solidFill>
                            <a:srgbClr val="171C20"/>
                          </a:solidFill>
                          <a:latin typeface="Montserrat"/>
                          <a:ea typeface="Montserrat"/>
                          <a:cs typeface="Montserrat"/>
                          <a:sym typeface="Montserrat"/>
                        </a:rPr>
                        <a:t>Model</a:t>
                      </a:r>
                      <a:endParaRPr/>
                    </a:p>
                  </a:txBody>
                  <a:tcPr marT="59625" marB="59625" marR="119250" marL="1192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1C20"/>
                        </a:buClr>
                        <a:buSzPts val="2800"/>
                        <a:buFont typeface="Montserrat"/>
                        <a:buNone/>
                      </a:pPr>
                      <a:r>
                        <a:rPr b="1" lang="en-US" sz="2800" u="none" cap="none" strike="noStrike">
                          <a:solidFill>
                            <a:srgbClr val="171C20"/>
                          </a:solidFill>
                          <a:latin typeface="Montserrat"/>
                          <a:ea typeface="Montserrat"/>
                          <a:cs typeface="Montserrat"/>
                          <a:sym typeface="Montserrat"/>
                        </a:rPr>
                        <a:t>RMSE (Days)</a:t>
                      </a:r>
                      <a:endParaRPr/>
                    </a:p>
                  </a:txBody>
                  <a:tcPr marT="59625" marB="59625" marR="119250" marL="1192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220200">
                <a:tc>
                  <a:txBody>
                    <a:bodyPr/>
                    <a:lstStyle/>
                    <a:p>
                      <a:pPr indent="0" lvl="0" marL="0" marR="0" rtl="0" algn="l">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Log-Linear Regression</a:t>
                      </a:r>
                      <a:endParaRPr/>
                    </a:p>
                  </a:txBody>
                  <a:tcPr marT="59625" marB="59625" marR="119250" marL="1192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31</a:t>
                      </a:r>
                      <a:endParaRPr/>
                    </a:p>
                  </a:txBody>
                  <a:tcPr marT="59625" marB="59625" marR="119250" marL="1192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220200">
                <a:tc>
                  <a:txBody>
                    <a:bodyPr/>
                    <a:lstStyle/>
                    <a:p>
                      <a:pPr indent="0" lvl="0" marL="0" marR="0" rtl="0" algn="l">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Random Forest</a:t>
                      </a:r>
                      <a:endParaRPr/>
                    </a:p>
                  </a:txBody>
                  <a:tcPr marT="59625" marB="59625" marR="119250" marL="1192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29.4</a:t>
                      </a:r>
                      <a:endParaRPr/>
                    </a:p>
                  </a:txBody>
                  <a:tcPr marT="59625" marB="59625" marR="119250" marL="1192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277" name="Google Shape;277;p11"/>
          <p:cNvSpPr txBox="1"/>
          <p:nvPr/>
        </p:nvSpPr>
        <p:spPr>
          <a:xfrm>
            <a:off x="17526001" y="9567210"/>
            <a:ext cx="402770" cy="456354"/>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10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2"/>
          <p:cNvSpPr/>
          <p:nvPr/>
        </p:nvSpPr>
        <p:spPr>
          <a:xfrm>
            <a:off x="598789" y="1028700"/>
            <a:ext cx="11635681" cy="8229600"/>
          </a:xfrm>
          <a:custGeom>
            <a:rect b="b" l="l" r="r" t="t"/>
            <a:pathLst>
              <a:path extrusionOk="0" h="8229600" w="11635681">
                <a:moveTo>
                  <a:pt x="0" y="0"/>
                </a:moveTo>
                <a:lnTo>
                  <a:pt x="11635682" y="0"/>
                </a:lnTo>
                <a:lnTo>
                  <a:pt x="11635682" y="8229600"/>
                </a:lnTo>
                <a:lnTo>
                  <a:pt x="0" y="82296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2"/>
          <p:cNvSpPr txBox="1"/>
          <p:nvPr/>
        </p:nvSpPr>
        <p:spPr>
          <a:xfrm>
            <a:off x="12234471" y="2055654"/>
            <a:ext cx="5454600" cy="47100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Small number of infants had very long stays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These </a:t>
            </a:r>
            <a:r>
              <a:rPr b="1" i="0" lang="en-US" sz="3000" u="none" cap="none" strike="noStrike">
                <a:solidFill>
                  <a:srgbClr val="85C9B4"/>
                </a:solidFill>
                <a:latin typeface="Montserrat"/>
                <a:ea typeface="Montserrat"/>
                <a:cs typeface="Montserrat"/>
                <a:sym typeface="Montserrat"/>
              </a:rPr>
              <a:t>extreme values</a:t>
            </a:r>
            <a:r>
              <a:rPr b="0" i="0" lang="en-US" sz="3000" u="none" cap="none" strike="noStrike">
                <a:solidFill>
                  <a:srgbClr val="171C20"/>
                </a:solidFill>
                <a:latin typeface="Montserrat"/>
                <a:ea typeface="Montserrat"/>
                <a:cs typeface="Montserrat"/>
                <a:sym typeface="Montserrat"/>
              </a:rPr>
              <a:t> impacted model performance</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Restricted data to 90th percentile (</a:t>
            </a:r>
            <a:r>
              <a:rPr b="1" i="0" lang="en-US" sz="3000" u="none" cap="none" strike="noStrike">
                <a:solidFill>
                  <a:srgbClr val="85C9B4"/>
                </a:solidFill>
                <a:latin typeface="Montserrat"/>
                <a:ea typeface="Montserrat"/>
                <a:cs typeface="Montserrat"/>
                <a:sym typeface="Montserrat"/>
              </a:rPr>
              <a:t>≤ 73 days</a:t>
            </a:r>
            <a:r>
              <a:rPr b="0" i="0" lang="en-US" sz="3000" u="none" cap="none" strike="noStrike">
                <a:solidFill>
                  <a:srgbClr val="171C20"/>
                </a:solidFill>
                <a:latin typeface="Montserrat"/>
                <a:ea typeface="Montserrat"/>
                <a:cs typeface="Montserrat"/>
                <a:sym typeface="Montserrat"/>
              </a:rPr>
              <a:t>)</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Models re-evaluated on restricted data</a:t>
            </a:r>
            <a:endParaRPr/>
          </a:p>
        </p:txBody>
      </p:sp>
      <p:sp>
        <p:nvSpPr>
          <p:cNvPr id="288" name="Google Shape;288;p12"/>
          <p:cNvSpPr txBox="1"/>
          <p:nvPr/>
        </p:nvSpPr>
        <p:spPr>
          <a:xfrm>
            <a:off x="12114625" y="1028700"/>
            <a:ext cx="5694300" cy="52320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lang="en-US" sz="3400">
                <a:solidFill>
                  <a:srgbClr val="85C9B4"/>
                </a:solidFill>
                <a:latin typeface="Poppins"/>
                <a:ea typeface="Poppins"/>
                <a:cs typeface="Poppins"/>
                <a:sym typeface="Poppins"/>
              </a:rPr>
              <a:t>90th Percentile Restriction</a:t>
            </a:r>
            <a:endParaRPr/>
          </a:p>
        </p:txBody>
      </p:sp>
      <p:sp>
        <p:nvSpPr>
          <p:cNvPr id="289" name="Google Shape;289;p12"/>
          <p:cNvSpPr txBox="1"/>
          <p:nvPr/>
        </p:nvSpPr>
        <p:spPr>
          <a:xfrm>
            <a:off x="17526001" y="9567210"/>
            <a:ext cx="402770" cy="456354"/>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3"/>
          <p:cNvSpPr txBox="1"/>
          <p:nvPr/>
        </p:nvSpPr>
        <p:spPr>
          <a:xfrm>
            <a:off x="12019515" y="2713736"/>
            <a:ext cx="5454600" cy="52410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1" i="0" lang="en-US" sz="3000" u="none" cap="none" strike="noStrike">
                <a:solidFill>
                  <a:srgbClr val="85C9B4"/>
                </a:solidFill>
                <a:latin typeface="Montserrat"/>
                <a:ea typeface="Montserrat"/>
                <a:cs typeface="Montserrat"/>
                <a:sym typeface="Montserrat"/>
              </a:rPr>
              <a:t>Random forest</a:t>
            </a:r>
            <a:r>
              <a:rPr b="0" i="0" lang="en-US" sz="3000" u="none" cap="none" strike="noStrike">
                <a:solidFill>
                  <a:srgbClr val="171C20"/>
                </a:solidFill>
                <a:latin typeface="Montserrat"/>
                <a:ea typeface="Montserrat"/>
                <a:cs typeface="Montserrat"/>
                <a:sym typeface="Montserrat"/>
              </a:rPr>
              <a:t> produced lower prediction error than log-linear regression</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Model performance </a:t>
            </a:r>
            <a:r>
              <a:rPr b="1" i="0" lang="en-US" sz="3000" u="none" cap="none" strike="noStrike">
                <a:solidFill>
                  <a:srgbClr val="85C9B4"/>
                </a:solidFill>
                <a:latin typeface="Montserrat"/>
                <a:ea typeface="Montserrat"/>
                <a:cs typeface="Montserrat"/>
                <a:sym typeface="Montserrat"/>
              </a:rPr>
              <a:t>improved</a:t>
            </a:r>
            <a:r>
              <a:rPr b="0" i="0" lang="en-US" sz="3000" u="none" cap="none" strike="noStrike">
                <a:solidFill>
                  <a:srgbClr val="171C20"/>
                </a:solidFill>
                <a:latin typeface="Montserrat"/>
                <a:ea typeface="Montserrat"/>
                <a:cs typeface="Montserrat"/>
                <a:sym typeface="Montserrat"/>
              </a:rPr>
              <a:t> after restricting to the 90th percentile</a:t>
            </a:r>
            <a:endParaRPr/>
          </a:p>
          <a:p>
            <a:pPr indent="-323851" lvl="1" marL="647702" marR="0" rtl="0" algn="l">
              <a:lnSpc>
                <a:spcPct val="115000"/>
              </a:lnSpc>
              <a:spcBef>
                <a:spcPts val="0"/>
              </a:spcBef>
              <a:spcAft>
                <a:spcPts val="0"/>
              </a:spcAft>
              <a:buClr>
                <a:srgbClr val="171C20"/>
              </a:buClr>
              <a:buSzPts val="3000"/>
              <a:buFont typeface="Arial"/>
              <a:buChar char="•"/>
            </a:pPr>
            <a:r>
              <a:rPr b="1" i="0" lang="en-US" sz="3000" u="none" cap="none" strike="noStrike">
                <a:solidFill>
                  <a:srgbClr val="171C20"/>
                </a:solidFill>
                <a:latin typeface="Montserrat"/>
                <a:ea typeface="Montserrat"/>
                <a:cs typeface="Montserrat"/>
                <a:sym typeface="Montserrat"/>
              </a:rPr>
              <a:t>Best model: Random forest (11.1 days)</a:t>
            </a:r>
            <a:endParaRPr/>
          </a:p>
        </p:txBody>
      </p:sp>
      <p:sp>
        <p:nvSpPr>
          <p:cNvPr id="299" name="Google Shape;299;p13"/>
          <p:cNvSpPr txBox="1"/>
          <p:nvPr/>
        </p:nvSpPr>
        <p:spPr>
          <a:xfrm>
            <a:off x="12019515" y="1758973"/>
            <a:ext cx="5454600" cy="54120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lang="en-US" sz="3400">
                <a:solidFill>
                  <a:srgbClr val="85C9B4"/>
                </a:solidFill>
                <a:latin typeface="Poppins"/>
                <a:ea typeface="Poppins"/>
                <a:cs typeface="Poppins"/>
                <a:sym typeface="Poppins"/>
              </a:rPr>
              <a:t>Model Validation</a:t>
            </a:r>
            <a:endParaRPr/>
          </a:p>
        </p:txBody>
      </p:sp>
      <p:graphicFrame>
        <p:nvGraphicFramePr>
          <p:cNvPr id="300" name="Google Shape;300;p13"/>
          <p:cNvGraphicFramePr/>
          <p:nvPr/>
        </p:nvGraphicFramePr>
        <p:xfrm>
          <a:off x="814927" y="2008645"/>
          <a:ext cx="3000000" cy="3000000"/>
        </p:xfrm>
        <a:graphic>
          <a:graphicData uri="http://schemas.openxmlformats.org/drawingml/2006/table">
            <a:tbl>
              <a:tblPr>
                <a:noFill/>
                <a:tableStyleId>{C47925D3-91DE-4CE5-BB47-F3D8AFCD5638}</a:tableStyleId>
              </a:tblPr>
              <a:tblGrid>
                <a:gridCol w="7338475"/>
                <a:gridCol w="3866125"/>
              </a:tblGrid>
              <a:tr h="1253950">
                <a:tc>
                  <a:txBody>
                    <a:bodyPr/>
                    <a:lstStyle/>
                    <a:p>
                      <a:pPr indent="0" lvl="0" marL="0" marR="0" rtl="0" algn="l">
                        <a:spcBef>
                          <a:spcPts val="0"/>
                        </a:spcBef>
                        <a:spcAft>
                          <a:spcPts val="0"/>
                        </a:spcAft>
                        <a:buClr>
                          <a:srgbClr val="171C20"/>
                        </a:buClr>
                        <a:buSzPts val="2800"/>
                        <a:buFont typeface="Montserrat"/>
                        <a:buNone/>
                      </a:pPr>
                      <a:r>
                        <a:rPr b="1" lang="en-US" sz="2800" u="none" cap="none" strike="noStrike">
                          <a:solidFill>
                            <a:srgbClr val="171C20"/>
                          </a:solidFill>
                          <a:latin typeface="Montserrat"/>
                          <a:ea typeface="Montserrat"/>
                          <a:cs typeface="Montserrat"/>
                          <a:sym typeface="Montserrat"/>
                        </a:rPr>
                        <a:t>Model</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1C20"/>
                        </a:buClr>
                        <a:buSzPts val="2800"/>
                        <a:buFont typeface="Montserrat"/>
                        <a:buNone/>
                      </a:pPr>
                      <a:r>
                        <a:rPr b="1" lang="en-US" sz="2800" u="none" cap="none" strike="noStrike">
                          <a:solidFill>
                            <a:srgbClr val="171C20"/>
                          </a:solidFill>
                          <a:latin typeface="Montserrat"/>
                          <a:ea typeface="Montserrat"/>
                          <a:cs typeface="Montserrat"/>
                          <a:sym typeface="Montserrat"/>
                        </a:rPr>
                        <a:t>RMSE (Days)</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253950">
                <a:tc>
                  <a:txBody>
                    <a:bodyPr/>
                    <a:lstStyle/>
                    <a:p>
                      <a:pPr indent="0" lvl="0" marL="0" marR="0" rtl="0" algn="l">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Log-Linear Regression (Full Data)</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31</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253950">
                <a:tc>
                  <a:txBody>
                    <a:bodyPr/>
                    <a:lstStyle/>
                    <a:p>
                      <a:pPr indent="0" lvl="0" marL="0" marR="0" rtl="0" algn="l">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Log-Linear Regression (90th Percentile)</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12.5</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253950">
                <a:tc>
                  <a:txBody>
                    <a:bodyPr/>
                    <a:lstStyle/>
                    <a:p>
                      <a:pPr indent="0" lvl="0" marL="0" marR="0" rtl="0" algn="l">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Random Forest (Full Data)</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71C20"/>
                        </a:buClr>
                        <a:buSzPts val="2800"/>
                        <a:buFont typeface="Montserrat"/>
                        <a:buNone/>
                      </a:pPr>
                      <a:r>
                        <a:rPr lang="en-US" sz="2800" u="none" cap="none" strike="noStrike">
                          <a:solidFill>
                            <a:srgbClr val="171C20"/>
                          </a:solidFill>
                          <a:latin typeface="Montserrat"/>
                          <a:ea typeface="Montserrat"/>
                          <a:cs typeface="Montserrat"/>
                          <a:sym typeface="Montserrat"/>
                        </a:rPr>
                        <a:t>29.4</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253950">
                <a:tc>
                  <a:txBody>
                    <a:bodyPr/>
                    <a:lstStyle/>
                    <a:p>
                      <a:pPr indent="0" lvl="0" marL="0" marR="0" rtl="0" algn="l">
                        <a:spcBef>
                          <a:spcPts val="0"/>
                        </a:spcBef>
                        <a:spcAft>
                          <a:spcPts val="0"/>
                        </a:spcAft>
                        <a:buClr>
                          <a:srgbClr val="171C20"/>
                        </a:buClr>
                        <a:buSzPts val="2800"/>
                        <a:buFont typeface="Montserrat"/>
                        <a:buNone/>
                      </a:pPr>
                      <a:r>
                        <a:rPr b="1" lang="en-US" sz="2800" u="none" cap="none" strike="noStrike">
                          <a:solidFill>
                            <a:srgbClr val="171C20"/>
                          </a:solidFill>
                          <a:latin typeface="Montserrat"/>
                          <a:ea typeface="Montserrat"/>
                          <a:cs typeface="Montserrat"/>
                          <a:sym typeface="Montserrat"/>
                        </a:rPr>
                        <a:t>Random Forest (90th Percentile)</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71C20"/>
                        </a:buClr>
                        <a:buSzPts val="2800"/>
                        <a:buFont typeface="Montserrat"/>
                        <a:buNone/>
                      </a:pPr>
                      <a:r>
                        <a:rPr b="1" lang="en-US" sz="2800" u="none" cap="none" strike="noStrike">
                          <a:solidFill>
                            <a:srgbClr val="171C20"/>
                          </a:solidFill>
                          <a:latin typeface="Montserrat"/>
                          <a:ea typeface="Montserrat"/>
                          <a:cs typeface="Montserrat"/>
                          <a:sym typeface="Montserrat"/>
                        </a:rPr>
                        <a:t>11.1</a:t>
                      </a:r>
                      <a:endParaRPr/>
                    </a:p>
                  </a:txBody>
                  <a:tcPr marT="62250" marB="62250" marR="124500" marL="124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301" name="Google Shape;301;p13"/>
          <p:cNvSpPr txBox="1"/>
          <p:nvPr/>
        </p:nvSpPr>
        <p:spPr>
          <a:xfrm>
            <a:off x="17526001" y="9567210"/>
            <a:ext cx="402770" cy="456354"/>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12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grpSp>
        <p:nvGrpSpPr>
          <p:cNvPr id="310" name="Google Shape;310;p14"/>
          <p:cNvGrpSpPr/>
          <p:nvPr/>
        </p:nvGrpSpPr>
        <p:grpSpPr>
          <a:xfrm>
            <a:off x="-3923578" y="-1732254"/>
            <a:ext cx="7847157" cy="7847157"/>
            <a:chOff x="0" y="0"/>
            <a:chExt cx="812800" cy="812800"/>
          </a:xfrm>
        </p:grpSpPr>
        <p:sp>
          <p:nvSpPr>
            <p:cNvPr id="311" name="Google Shape;311;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3" name="Google Shape;313;p14"/>
          <p:cNvGrpSpPr/>
          <p:nvPr/>
        </p:nvGrpSpPr>
        <p:grpSpPr>
          <a:xfrm>
            <a:off x="6887289" y="9723335"/>
            <a:ext cx="300229" cy="300229"/>
            <a:chOff x="0" y="0"/>
            <a:chExt cx="812800" cy="812800"/>
          </a:xfrm>
        </p:grpSpPr>
        <p:sp>
          <p:nvSpPr>
            <p:cNvPr id="314" name="Google Shape;314;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6" name="Google Shape;316;p14"/>
          <p:cNvGrpSpPr/>
          <p:nvPr/>
        </p:nvGrpSpPr>
        <p:grpSpPr>
          <a:xfrm>
            <a:off x="4356125" y="1146915"/>
            <a:ext cx="474357" cy="474357"/>
            <a:chOff x="0" y="0"/>
            <a:chExt cx="812800" cy="812800"/>
          </a:xfrm>
        </p:grpSpPr>
        <p:sp>
          <p:nvSpPr>
            <p:cNvPr id="317" name="Google Shape;317;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66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9" name="Google Shape;319;p14"/>
          <p:cNvSpPr/>
          <p:nvPr/>
        </p:nvSpPr>
        <p:spPr>
          <a:xfrm>
            <a:off x="0" y="1942807"/>
            <a:ext cx="6620804" cy="8344203"/>
          </a:xfrm>
          <a:custGeom>
            <a:rect b="b" l="l" r="r" t="t"/>
            <a:pathLst>
              <a:path extrusionOk="0" h="83230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935"/>
                </a:cubicBezTo>
                <a:lnTo>
                  <a:pt x="660400" y="832302"/>
                </a:lnTo>
                <a:lnTo>
                  <a:pt x="0" y="832302"/>
                </a:lnTo>
                <a:lnTo>
                  <a:pt x="0" y="329309"/>
                </a:lnTo>
                <a:cubicBezTo>
                  <a:pt x="1782" y="185660"/>
                  <a:pt x="93019" y="64045"/>
                  <a:pt x="220252" y="19070"/>
                </a:cubicBezTo>
                <a:close/>
              </a:path>
            </a:pathLst>
          </a:custGeom>
          <a:blipFill rotWithShape="1">
            <a:blip r:embed="rId3">
              <a:alphaModFix/>
            </a:blip>
            <a:stretch>
              <a:fillRect b="0" l="-52688" r="-3612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0" name="Google Shape;320;p14"/>
          <p:cNvGrpSpPr/>
          <p:nvPr/>
        </p:nvGrpSpPr>
        <p:grpSpPr>
          <a:xfrm>
            <a:off x="7187518" y="904458"/>
            <a:ext cx="10071782" cy="1286867"/>
            <a:chOff x="0" y="-114300"/>
            <a:chExt cx="7844064" cy="1002232"/>
          </a:xfrm>
        </p:grpSpPr>
        <p:sp>
          <p:nvSpPr>
            <p:cNvPr id="321" name="Google Shape;321;p14"/>
            <p:cNvSpPr/>
            <p:nvPr/>
          </p:nvSpPr>
          <p:spPr>
            <a:xfrm>
              <a:off x="0" y="0"/>
              <a:ext cx="7844064" cy="887932"/>
            </a:xfrm>
            <a:custGeom>
              <a:rect b="b" l="l" r="r" t="t"/>
              <a:pathLst>
                <a:path extrusionOk="0" h="887932" w="7844064">
                  <a:moveTo>
                    <a:pt x="7640864" y="0"/>
                  </a:moveTo>
                  <a:cubicBezTo>
                    <a:pt x="7753088" y="0"/>
                    <a:pt x="7844064" y="198770"/>
                    <a:pt x="7844064" y="443966"/>
                  </a:cubicBezTo>
                  <a:cubicBezTo>
                    <a:pt x="7844064" y="689162"/>
                    <a:pt x="7753088" y="887932"/>
                    <a:pt x="7640864" y="887932"/>
                  </a:cubicBezTo>
                  <a:lnTo>
                    <a:pt x="203200" y="887932"/>
                  </a:lnTo>
                  <a:cubicBezTo>
                    <a:pt x="90976" y="887932"/>
                    <a:pt x="0" y="689162"/>
                    <a:pt x="0" y="443966"/>
                  </a:cubicBezTo>
                  <a:cubicBezTo>
                    <a:pt x="0" y="198770"/>
                    <a:pt x="90976" y="0"/>
                    <a:pt x="203200" y="0"/>
                  </a:cubicBezTo>
                  <a:lnTo>
                    <a:pt x="7640864" y="0"/>
                  </a:lnTo>
                  <a:close/>
                </a:path>
              </a:pathLst>
            </a:custGeom>
            <a:solidFill>
              <a:srgbClr val="85C9B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4"/>
            <p:cNvSpPr txBox="1"/>
            <p:nvPr/>
          </p:nvSpPr>
          <p:spPr>
            <a:xfrm>
              <a:off x="0" y="-114300"/>
              <a:ext cx="7844064" cy="1002232"/>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None/>
              </a:pPr>
              <a:r>
                <a:rPr lang="en-US" sz="3999">
                  <a:solidFill>
                    <a:srgbClr val="171C20"/>
                  </a:solidFill>
                  <a:latin typeface="Poppins"/>
                  <a:ea typeface="Poppins"/>
                  <a:cs typeface="Poppins"/>
                  <a:sym typeface="Poppins"/>
                </a:rPr>
                <a:t>Conclusion</a:t>
              </a:r>
              <a:endParaRPr/>
            </a:p>
          </p:txBody>
        </p:sp>
      </p:grpSp>
      <p:sp>
        <p:nvSpPr>
          <p:cNvPr id="323" name="Google Shape;323;p14"/>
          <p:cNvSpPr txBox="1"/>
          <p:nvPr/>
        </p:nvSpPr>
        <p:spPr>
          <a:xfrm>
            <a:off x="7187518" y="2381581"/>
            <a:ext cx="10071900" cy="6834300"/>
          </a:xfrm>
          <a:prstGeom prst="rect">
            <a:avLst/>
          </a:prstGeom>
          <a:noFill/>
          <a:ln>
            <a:noFill/>
          </a:ln>
        </p:spPr>
        <p:txBody>
          <a:bodyPr anchorCtr="0" anchor="t" bIns="0" lIns="0" spcFirstLastPara="1" rIns="0" wrap="square" tIns="0">
            <a:spAutoFit/>
          </a:bodyPr>
          <a:lstStyle/>
          <a:p>
            <a:pPr indent="-323851" lvl="1" marL="647702" marR="0" rtl="0" algn="l">
              <a:lnSpc>
                <a:spcPct val="115000"/>
              </a:lnSpc>
              <a:spcBef>
                <a:spcPts val="0"/>
              </a:spcBef>
              <a:spcAft>
                <a:spcPts val="0"/>
              </a:spcAft>
              <a:buClr>
                <a:srgbClr val="171C20"/>
              </a:buClr>
              <a:buSzPts val="3000"/>
              <a:buFont typeface="Arial"/>
              <a:buChar char="•"/>
            </a:pPr>
            <a:r>
              <a:rPr b="1" i="0" lang="en-US" sz="3000" u="none" cap="none" strike="noStrike">
                <a:solidFill>
                  <a:srgbClr val="85C9B4"/>
                </a:solidFill>
                <a:latin typeface="Montserrat"/>
                <a:ea typeface="Montserrat"/>
                <a:cs typeface="Montserrat"/>
                <a:sym typeface="Montserrat"/>
              </a:rPr>
              <a:t>Random forest</a:t>
            </a:r>
            <a:r>
              <a:rPr b="0" i="0" lang="en-US" sz="3000" u="none" cap="none" strike="noStrike">
                <a:solidFill>
                  <a:srgbClr val="171C20"/>
                </a:solidFill>
                <a:latin typeface="Montserrat"/>
                <a:ea typeface="Montserrat"/>
                <a:cs typeface="Montserrat"/>
                <a:sym typeface="Montserrat"/>
              </a:rPr>
              <a:t> produced the most accurate predictions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Model performance </a:t>
            </a:r>
            <a:r>
              <a:rPr b="1" i="0" lang="en-US" sz="3000" u="none" cap="none" strike="noStrike">
                <a:solidFill>
                  <a:srgbClr val="85C9B4"/>
                </a:solidFill>
                <a:latin typeface="Montserrat"/>
                <a:ea typeface="Montserrat"/>
                <a:cs typeface="Montserrat"/>
                <a:sym typeface="Montserrat"/>
              </a:rPr>
              <a:t>improved</a:t>
            </a:r>
            <a:r>
              <a:rPr b="0" i="0" lang="en-US" sz="3000" u="none" cap="none" strike="noStrike">
                <a:solidFill>
                  <a:srgbClr val="171C20"/>
                </a:solidFill>
                <a:latin typeface="Montserrat"/>
                <a:ea typeface="Montserrat"/>
                <a:cs typeface="Montserrat"/>
                <a:sym typeface="Montserrat"/>
              </a:rPr>
              <a:t> after reducing extreme values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Key factors influencing length of stay:</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Gestational age</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Birth weight</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Neonatal complications</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Clustering revealed distinct </a:t>
            </a:r>
            <a:r>
              <a:rPr b="1" i="0" lang="en-US" sz="3000" u="none" cap="none" strike="noStrike">
                <a:solidFill>
                  <a:srgbClr val="85C9B4"/>
                </a:solidFill>
                <a:latin typeface="Montserrat"/>
                <a:ea typeface="Montserrat"/>
                <a:cs typeface="Montserrat"/>
                <a:sym typeface="Montserrat"/>
              </a:rPr>
              <a:t>groups</a:t>
            </a:r>
            <a:r>
              <a:rPr b="0" i="0" lang="en-US" sz="3000" u="none" cap="none" strike="noStrike">
                <a:solidFill>
                  <a:srgbClr val="171C20"/>
                </a:solidFill>
                <a:latin typeface="Montserrat"/>
                <a:ea typeface="Montserrat"/>
                <a:cs typeface="Montserrat"/>
                <a:sym typeface="Montserrat"/>
              </a:rPr>
              <a:t> based on prematurity</a:t>
            </a:r>
            <a:endParaRPr/>
          </a:p>
          <a:p>
            <a:pPr indent="-323851" lvl="1" marL="647702"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Results can support:</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Hospital resource planning</a:t>
            </a:r>
            <a:endParaRPr/>
          </a:p>
          <a:p>
            <a:pPr indent="-431801" lvl="2" marL="1295403" marR="0" rtl="0" algn="l">
              <a:lnSpc>
                <a:spcPct val="115000"/>
              </a:lnSpc>
              <a:spcBef>
                <a:spcPts val="0"/>
              </a:spcBef>
              <a:spcAft>
                <a:spcPts val="0"/>
              </a:spcAft>
              <a:buClr>
                <a:srgbClr val="171C20"/>
              </a:buClr>
              <a:buSzPts val="3000"/>
              <a:buFont typeface="Arial"/>
              <a:buChar char="⚬"/>
            </a:pPr>
            <a:r>
              <a:rPr b="0" i="0" lang="en-US" sz="3000" u="none" cap="none" strike="noStrike">
                <a:solidFill>
                  <a:srgbClr val="171C20"/>
                </a:solidFill>
                <a:latin typeface="Montserrat"/>
                <a:ea typeface="Montserrat"/>
                <a:cs typeface="Montserrat"/>
                <a:sym typeface="Montserrat"/>
              </a:rPr>
              <a:t>Clinical decision-making</a:t>
            </a:r>
            <a:endParaRPr/>
          </a:p>
        </p:txBody>
      </p:sp>
      <p:sp>
        <p:nvSpPr>
          <p:cNvPr id="324" name="Google Shape;324;p14"/>
          <p:cNvSpPr txBox="1"/>
          <p:nvPr/>
        </p:nvSpPr>
        <p:spPr>
          <a:xfrm>
            <a:off x="17526001" y="9567210"/>
            <a:ext cx="402770" cy="456354"/>
          </a:xfrm>
          <a:prstGeom prst="rect">
            <a:avLst/>
          </a:prstGeom>
          <a:noFill/>
          <a:ln>
            <a:noFill/>
          </a:ln>
        </p:spPr>
        <p:txBody>
          <a:bodyPr anchorCtr="0" anchor="t" bIns="0" lIns="0" spcFirstLastPara="1" rIns="0" wrap="square" tIns="0">
            <a:spAutoFit/>
          </a:bodyPr>
          <a:lstStyle/>
          <a:p>
            <a:pPr indent="0" lvl="0" marL="0" marR="0" rtl="0" algn="ctr">
              <a:lnSpc>
                <a:spcPct val="139992"/>
              </a:lnSpc>
              <a:spcBef>
                <a:spcPts val="0"/>
              </a:spcBef>
              <a:spcAft>
                <a:spcPts val="0"/>
              </a:spcAft>
              <a:buNone/>
            </a:pPr>
            <a:r>
              <a:rPr lang="en-US" sz="2658">
                <a:solidFill>
                  <a:srgbClr val="171C20"/>
                </a:solidFill>
                <a:latin typeface="Montserrat"/>
                <a:ea typeface="Montserrat"/>
                <a:cs typeface="Montserrat"/>
                <a:sym typeface="Montserrat"/>
              </a:rPr>
              <a:t>13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Emilee Lewis</dc:creator>
</cp:coreProperties>
</file>